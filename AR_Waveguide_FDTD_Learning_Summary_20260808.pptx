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5784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F809057-E85A-462C-B822-2054D64D69BD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095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AR WAVEGUIDE • FDTD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AA1C45-9DA6-4007-9B12-3FA07D929BAD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619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4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4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AR </a:t>
            </a:r>
            <a:r>
              <a:rPr lang="zh-CN" altLang="en-US" sz="4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波导光栅 </a:t>
            </a:r>
            <a:r>
              <a:rPr lang="en-US" altLang="zh-CN" sz="4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FDTD</a:t>
            </a:r>
          </a:p>
          <a:p>
            <a:pPr algn="l">
              <a:defRPr sz="4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4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今日学习总结与验证</a:t>
            </a:r>
            <a:endParaRPr sz="4800" b="1">
              <a:solidFill>
                <a:srgbClr val="0B122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22B378-A378-4953-B808-B4ADDCF82226}"/>
              </a:ext>
            </a:extLst>
          </p:cNvPr>
          <p:cNvSpPr>
            <a:spLocks noGrp="1"/>
          </p:cNvSpPr>
          <p:nvPr/>
        </p:nvSpPr>
        <p:spPr>
          <a:xfrm>
            <a:off x="647700" y="4171950"/>
            <a:ext cx="4953000" cy="47625"/>
          </a:xfrm>
          <a:prstGeom prst="rect">
            <a:avLst/>
          </a:prstGeom>
          <a:solidFill>
            <a:srgbClr val="1E6BE3"/>
          </a:solidFill>
          <a:ln w="0">
            <a:solidFill>
              <a:srgbClr val="1E6BE3"/>
            </a:solidFill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A3AF176-E496-42CF-A7E0-2952296B4112}"/>
              </a:ext>
            </a:extLst>
          </p:cNvPr>
          <p:cNvSpPr>
            <a:spLocks noGrp="1"/>
          </p:cNvSpPr>
          <p:nvPr/>
        </p:nvSpPr>
        <p:spPr>
          <a:xfrm>
            <a:off x="7381875" y="1619250"/>
            <a:ext cx="3429000" cy="2571750"/>
          </a:xfrm>
          <a:prstGeom prst="roundRect">
            <a:avLst>
              <a:gd name="adj" fmla="val 4444"/>
            </a:avLst>
          </a:prstGeom>
          <a:solidFill>
            <a:srgbClr val="F7FBFF"/>
          </a:solidFill>
          <a:ln w="9525">
            <a:solidFill>
              <a:srgbClr val="CAE1FA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4788B1-4BC4-4C93-BA7B-E8977A4F5CF7}"/>
              </a:ext>
            </a:extLst>
          </p:cNvPr>
          <p:cNvSpPr>
            <a:spLocks noGrp="1"/>
          </p:cNvSpPr>
          <p:nvPr/>
        </p:nvSpPr>
        <p:spPr>
          <a:xfrm>
            <a:off x="7715250" y="18097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空气  n = 1.0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57D131C-E1B1-4C93-8BE3-A76E7B2D2709}"/>
              </a:ext>
            </a:extLst>
          </p:cNvPr>
          <p:cNvSpPr>
            <a:spLocks noGrp="1"/>
          </p:cNvSpPr>
          <p:nvPr/>
        </p:nvSpPr>
        <p:spPr>
          <a:xfrm>
            <a:off x="7762875" y="2619375"/>
            <a:ext cx="1428750" cy="400050"/>
          </a:xfrm>
          <a:prstGeom prst="roundRect">
            <a:avLst>
              <a:gd name="adj" fmla="val 4762"/>
            </a:avLst>
          </a:prstGeom>
          <a:solidFill>
            <a:srgbClr val="25BCEB"/>
          </a:solidFill>
          <a:ln w="9525">
            <a:solidFill>
              <a:srgbClr val="25BCE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C69DD0-3639-44DD-AEE8-4C959ADB4E02}"/>
              </a:ext>
            </a:extLst>
          </p:cNvPr>
          <p:cNvSpPr>
            <a:spLocks noGrp="1"/>
          </p:cNvSpPr>
          <p:nvPr/>
        </p:nvSpPr>
        <p:spPr>
          <a:xfrm>
            <a:off x="7762875" y="267652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光栅凸起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FB6D9D6-CA72-4785-8BFE-2C7FA627FA77}"/>
              </a:ext>
            </a:extLst>
          </p:cNvPr>
          <p:cNvSpPr>
            <a:spLocks noGrp="1"/>
          </p:cNvSpPr>
          <p:nvPr/>
        </p:nvSpPr>
        <p:spPr>
          <a:xfrm>
            <a:off x="7381875" y="3019425"/>
            <a:ext cx="3429000" cy="1000125"/>
          </a:xfrm>
          <a:prstGeom prst="roundRect">
            <a:avLst>
              <a:gd name="adj" fmla="val 1905"/>
            </a:avLst>
          </a:prstGeom>
          <a:solidFill>
            <a:srgbClr val="5DD5D1"/>
          </a:solidFill>
          <a:ln w="9525">
            <a:solidFill>
              <a:srgbClr val="5DD5D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371D89-F6CA-4959-9E6F-0F99A3597044}"/>
              </a:ext>
            </a:extLst>
          </p:cNvPr>
          <p:cNvSpPr>
            <a:spLocks noGrp="1"/>
          </p:cNvSpPr>
          <p:nvPr/>
        </p:nvSpPr>
        <p:spPr>
          <a:xfrm>
            <a:off x="7715250" y="3371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玻璃波导  n = 1.8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CE90CA36-B4B5-4BB2-AF25-811E2A87FAFD}"/>
              </a:ext>
            </a:extLst>
          </p:cNvPr>
          <p:cNvSpPr>
            <a:spLocks noGrp="1"/>
          </p:cNvSpPr>
          <p:nvPr/>
        </p:nvSpPr>
        <p:spPr>
          <a:xfrm>
            <a:off x="9667875" y="2114550"/>
            <a:ext cx="0" cy="457200"/>
          </a:xfrm>
          <a:prstGeom prst="line">
            <a:avLst/>
          </a:prstGeom>
          <a:ln w="28575">
            <a:solidFill>
              <a:srgbClr val="F59E0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7F7D49-6B20-4167-8783-E1C77B67BAF9}"/>
              </a:ext>
            </a:extLst>
          </p:cNvPr>
          <p:cNvSpPr>
            <a:spLocks noGrp="1"/>
          </p:cNvSpPr>
          <p:nvPr/>
        </p:nvSpPr>
        <p:spPr>
          <a:xfrm>
            <a:off x="9858375" y="2114550"/>
            <a:ext cx="1428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532 nm 入射光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F007BB-AC8C-4B2C-B1A2-2BB8CADDA49D}"/>
              </a:ext>
            </a:extLst>
          </p:cNvPr>
          <p:cNvSpPr>
            <a:spLocks noGrp="1"/>
          </p:cNvSpPr>
          <p:nvPr/>
        </p:nvSpPr>
        <p:spPr>
          <a:xfrm>
            <a:off x="647700" y="6048375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学习记录 / 可复现仿真项目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594DAC6-C138-330E-7A48-9D7422840961}"/>
              </a:ext>
            </a:extLst>
          </p:cNvPr>
          <p:cNvSpPr txBox="1"/>
          <p:nvPr/>
        </p:nvSpPr>
        <p:spPr>
          <a:xfrm>
            <a:off x="647700" y="3475166"/>
            <a:ext cx="4953000" cy="20005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CN" sz="1300">
                <a:solidFill>
                  <a:srgbClr val="556070"/>
                </a:solidFill>
                <a:latin typeface="Microsoft YaHei" panose="020B0503020204020204" pitchFamily="34" charset="-122"/>
              </a:rPr>
              <a:t>532 nm TE </a:t>
            </a:r>
            <a:r>
              <a:rPr lang="zh-CN" altLang="en-US" sz="1300">
                <a:solidFill>
                  <a:srgbClr val="556070"/>
                </a:solidFill>
                <a:latin typeface="Microsoft YaHei" panose="020B0503020204020204" pitchFamily="34" charset="-122"/>
              </a:rPr>
              <a:t>光栅 </a:t>
            </a:r>
            <a:r>
              <a:rPr lang="en-US" altLang="zh-CN" sz="1300">
                <a:solidFill>
                  <a:srgbClr val="556070"/>
                </a:solidFill>
                <a:latin typeface="Microsoft YaHei" panose="020B0503020204020204" pitchFamily="34" charset="-122"/>
              </a:rPr>
              <a:t>· Lumerical FDTD 2026 R1</a:t>
            </a:r>
            <a:endParaRPr lang="zh-CN" altLang="en-US" sz="13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190054-C6F2-17B9-C54A-194C3235331A}"/>
              </a:ext>
            </a:extLst>
          </p:cNvPr>
          <p:cNvSpPr txBox="1"/>
          <p:nvPr/>
        </p:nvSpPr>
        <p:spPr>
          <a:xfrm>
            <a:off x="647700" y="4237166"/>
            <a:ext cx="2794000" cy="1692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100">
                <a:solidFill>
                  <a:srgbClr val="556070"/>
                </a:solidFill>
                <a:latin typeface="Microsoft YaHei" panose="020B0503020204020204" pitchFamily="34" charset="-122"/>
              </a:rPr>
              <a:t>学习日期 </a:t>
            </a:r>
            <a:r>
              <a:rPr lang="en-US" altLang="zh-CN" sz="1100">
                <a:solidFill>
                  <a:srgbClr val="556070"/>
                </a:solidFill>
                <a:latin typeface="Microsoft YaHei" panose="020B0503020204020204" pitchFamily="34" charset="-122"/>
              </a:rPr>
              <a:t>2026-08-08</a:t>
            </a:r>
            <a:endParaRPr lang="zh-CN" altLang="en-US" sz="11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718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2742A770-6C7E-4111-B24F-CE3AD0A41D9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01 目标与范围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751CD0-9AB9-4D6A-8FFA-9142309EBFE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从 AR 波导原理到可验证的局部光栅模型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AD2FA2-7316-4B26-BEAB-F627FDB32E80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B1FD3F-E60D-48F0-B38F-A0351CD387DA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378809-8EF8-466E-B4AA-83A1D6B45B17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本次项目回答的核心问题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5974942-60E8-479C-B7EC-BA348916E514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191750" cy="781050"/>
          </a:xfrm>
          <a:prstGeom prst="roundRect">
            <a:avLst>
              <a:gd name="adj" fmla="val 14634"/>
            </a:avLst>
          </a:prstGeom>
          <a:solidFill>
            <a:srgbClr val="F3F6F9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D837BFE-1D48-4420-ADC1-42E03999672E}"/>
              </a:ext>
            </a:extLst>
          </p:cNvPr>
          <p:cNvSpPr>
            <a:spLocks noGrp="1"/>
          </p:cNvSpPr>
          <p:nvPr/>
        </p:nvSpPr>
        <p:spPr>
          <a:xfrm>
            <a:off x="819150" y="2705100"/>
            <a:ext cx="457200" cy="304800"/>
          </a:xfrm>
          <a:prstGeom prst="roundRect">
            <a:avLst>
              <a:gd name="adj" fmla="val 25000"/>
            </a:avLst>
          </a:prstGeom>
          <a:solidFill>
            <a:srgbClr val="1E6BE3"/>
          </a:solidFill>
          <a:ln w="9525">
            <a:solidFill>
              <a:srgbClr val="1E6BE3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81E14A-767A-4D59-98E3-ED66C1471A90}"/>
              </a:ext>
            </a:extLst>
          </p:cNvPr>
          <p:cNvSpPr>
            <a:spLocks noGrp="1"/>
          </p:cNvSpPr>
          <p:nvPr/>
        </p:nvSpPr>
        <p:spPr>
          <a:xfrm>
            <a:off x="819150" y="271462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B08532-56F0-42A1-8B34-204FFED5A353}"/>
              </a:ext>
            </a:extLst>
          </p:cNvPr>
          <p:cNvSpPr>
            <a:spLocks noGrp="1"/>
          </p:cNvSpPr>
          <p:nvPr/>
        </p:nvSpPr>
        <p:spPr>
          <a:xfrm>
            <a:off x="1524000" y="2600325"/>
            <a:ext cx="552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为什么光栅能把光耦入波导？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1EF950-5EB8-4768-9C6C-5D759FDFAD87}"/>
              </a:ext>
            </a:extLst>
          </p:cNvPr>
          <p:cNvSpPr>
            <a:spLocks noGrp="1"/>
          </p:cNvSpPr>
          <p:nvPr/>
        </p:nvSpPr>
        <p:spPr>
          <a:xfrm>
            <a:off x="1524000" y="2905125"/>
            <a:ext cx="666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动量匹配与全反射条件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EB5CD28-A269-4C21-940E-650A9048E352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191750" cy="781050"/>
          </a:xfrm>
          <a:prstGeom prst="roundRect">
            <a:avLst>
              <a:gd name="adj" fmla="val 14634"/>
            </a:avLst>
          </a:prstGeom>
          <a:solidFill>
            <a:srgbClr val="F3F6F9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07D7558-BACE-4B7B-869C-67C83E5E58D4}"/>
              </a:ext>
            </a:extLst>
          </p:cNvPr>
          <p:cNvSpPr>
            <a:spLocks noGrp="1"/>
          </p:cNvSpPr>
          <p:nvPr/>
        </p:nvSpPr>
        <p:spPr>
          <a:xfrm>
            <a:off x="819150" y="3771900"/>
            <a:ext cx="457200" cy="304800"/>
          </a:xfrm>
          <a:prstGeom prst="roundRect">
            <a:avLst>
              <a:gd name="adj" fmla="val 25000"/>
            </a:avLst>
          </a:prstGeom>
          <a:solidFill>
            <a:srgbClr val="1E6BE3"/>
          </a:solidFill>
          <a:ln w="9525">
            <a:solidFill>
              <a:srgbClr val="1E6BE3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E284389-0993-4805-8A07-A3FB2A51192C}"/>
              </a:ext>
            </a:extLst>
          </p:cNvPr>
          <p:cNvSpPr>
            <a:spLocks noGrp="1"/>
          </p:cNvSpPr>
          <p:nvPr/>
        </p:nvSpPr>
        <p:spPr>
          <a:xfrm>
            <a:off x="819150" y="378142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A19C17-B22D-4DFC-880A-787FA24C5943}"/>
              </a:ext>
            </a:extLst>
          </p:cNvPr>
          <p:cNvSpPr>
            <a:spLocks noGrp="1"/>
          </p:cNvSpPr>
          <p:nvPr/>
        </p:nvSpPr>
        <p:spPr>
          <a:xfrm>
            <a:off x="1524000" y="3667125"/>
            <a:ext cx="552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如何在 FDTD 中建立可信模型？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32E47D-36C4-4A8C-8EAA-1E0898B471EA}"/>
              </a:ext>
            </a:extLst>
          </p:cNvPr>
          <p:cNvSpPr>
            <a:spLocks noGrp="1"/>
          </p:cNvSpPr>
          <p:nvPr/>
        </p:nvSpPr>
        <p:spPr>
          <a:xfrm>
            <a:off x="1524000" y="3971925"/>
            <a:ext cx="666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边界、网格、光源与监视器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22C89EC-284B-459A-9997-F81B42508996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191750" cy="781050"/>
          </a:xfrm>
          <a:prstGeom prst="roundRect">
            <a:avLst>
              <a:gd name="adj" fmla="val 14634"/>
            </a:avLst>
          </a:prstGeom>
          <a:solidFill>
            <a:srgbClr val="F3F6F9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103235E-5850-4334-A4AB-5E2CC82973D9}"/>
              </a:ext>
            </a:extLst>
          </p:cNvPr>
          <p:cNvSpPr>
            <a:spLocks noGrp="1"/>
          </p:cNvSpPr>
          <p:nvPr/>
        </p:nvSpPr>
        <p:spPr>
          <a:xfrm>
            <a:off x="819150" y="4838700"/>
            <a:ext cx="457200" cy="304800"/>
          </a:xfrm>
          <a:prstGeom prst="roundRect">
            <a:avLst>
              <a:gd name="adj" fmla="val 25000"/>
            </a:avLst>
          </a:prstGeom>
          <a:solidFill>
            <a:srgbClr val="1E6BE3"/>
          </a:solidFill>
          <a:ln w="9525">
            <a:solidFill>
              <a:srgbClr val="1E6BE3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07155C6-8DE6-4C37-BC51-047E085DED95}"/>
              </a:ext>
            </a:extLst>
          </p:cNvPr>
          <p:cNvSpPr>
            <a:spLocks noGrp="1"/>
          </p:cNvSpPr>
          <p:nvPr/>
        </p:nvSpPr>
        <p:spPr>
          <a:xfrm>
            <a:off x="819150" y="484822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2EFE6A0-F75C-41E6-9B4B-E1D219268B62}"/>
              </a:ext>
            </a:extLst>
          </p:cNvPr>
          <p:cNvSpPr>
            <a:spLocks noGrp="1"/>
          </p:cNvSpPr>
          <p:nvPr/>
        </p:nvSpPr>
        <p:spPr>
          <a:xfrm>
            <a:off x="1524000" y="4733925"/>
            <a:ext cx="552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怎样判断仿真结果是否可信？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6C214C8-97DE-4A77-AD18-672C2A8D9023}"/>
              </a:ext>
            </a:extLst>
          </p:cNvPr>
          <p:cNvSpPr>
            <a:spLocks noGrp="1"/>
          </p:cNvSpPr>
          <p:nvPr/>
        </p:nvSpPr>
        <p:spPr>
          <a:xfrm>
            <a:off x="1524000" y="5038725"/>
            <a:ext cx="666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反射、透射与能量守恒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64EC00-269C-4A45-B7FD-8077974401FA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范围：局部周期光栅单元；不是完整 AR 眼镜系统。</a:t>
            </a:r>
          </a:p>
        </p:txBody>
      </p:sp>
    </p:spTree>
    <p:extLst>
      <p:ext uri="{BB962C8B-B14F-4D97-AF65-F5344CB8AC3E}">
        <p14:creationId xmlns:p14="http://schemas.microsoft.com/office/powerpoint/2010/main" val="344170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A1B32F8C-2474-4882-9A5F-8AD33A77A67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02 物理起点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F2B855-8CF0-40D0-AD7D-6384AD7DA2F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AR 波导依赖“光栅动量匹配 + 全反射传播”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450309-4B1E-4B1D-A7BD-B5AA988BA192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DD4898-4C42-44D5-B6D3-4E212193D1C0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233D17-DF7B-4A9A-A071-4E2E9B4A3758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光路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7953A1F-25CA-4430-90A4-DC382C38EEDD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1905000" cy="704850"/>
          </a:xfrm>
          <a:prstGeom prst="roundRect">
            <a:avLst>
              <a:gd name="adj" fmla="val 16216"/>
            </a:avLst>
          </a:prstGeom>
          <a:solidFill>
            <a:srgbClr val="F3F6F9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CB061D-58A5-40C0-8780-3EAF34FE6609}"/>
              </a:ext>
            </a:extLst>
          </p:cNvPr>
          <p:cNvSpPr>
            <a:spLocks noGrp="1"/>
          </p:cNvSpPr>
          <p:nvPr/>
        </p:nvSpPr>
        <p:spPr>
          <a:xfrm>
            <a:off x="723900" y="2609850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微显示 / 准直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987B2E32-C380-4E2D-8FB3-87BAF5B3E09F}"/>
              </a:ext>
            </a:extLst>
          </p:cNvPr>
          <p:cNvSpPr>
            <a:spLocks noGrp="1"/>
          </p:cNvSpPr>
          <p:nvPr/>
        </p:nvSpPr>
        <p:spPr>
          <a:xfrm>
            <a:off x="2533650" y="2781300"/>
            <a:ext cx="400050" cy="0"/>
          </a:xfrm>
          <a:prstGeom prst="line">
            <a:avLst/>
          </a:prstGeom>
          <a:ln w="28575">
            <a:solidFill>
              <a:srgbClr val="1E6BE3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FF1719C-A3DB-4492-BF5B-EB8C30FB681F}"/>
              </a:ext>
            </a:extLst>
          </p:cNvPr>
          <p:cNvSpPr>
            <a:spLocks noGrp="1"/>
          </p:cNvSpPr>
          <p:nvPr/>
        </p:nvSpPr>
        <p:spPr>
          <a:xfrm>
            <a:off x="3000375" y="2428875"/>
            <a:ext cx="1905000" cy="704850"/>
          </a:xfrm>
          <a:prstGeom prst="roundRect">
            <a:avLst>
              <a:gd name="adj" fmla="val 16216"/>
            </a:avLst>
          </a:prstGeom>
          <a:solidFill>
            <a:srgbClr val="E8F2FF"/>
          </a:solidFill>
          <a:ln w="9525">
            <a:solidFill>
              <a:srgbClr val="1E6BE3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51862F-AFDA-45D0-8842-3A7FD618C464}"/>
              </a:ext>
            </a:extLst>
          </p:cNvPr>
          <p:cNvSpPr>
            <a:spLocks noGrp="1"/>
          </p:cNvSpPr>
          <p:nvPr/>
        </p:nvSpPr>
        <p:spPr>
          <a:xfrm>
            <a:off x="3114675" y="2609850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入耦光栅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A639EC8E-A5C1-4F7F-B299-30C07F450C31}"/>
              </a:ext>
            </a:extLst>
          </p:cNvPr>
          <p:cNvSpPr>
            <a:spLocks noGrp="1"/>
          </p:cNvSpPr>
          <p:nvPr/>
        </p:nvSpPr>
        <p:spPr>
          <a:xfrm>
            <a:off x="4924425" y="2781300"/>
            <a:ext cx="400050" cy="0"/>
          </a:xfrm>
          <a:prstGeom prst="line">
            <a:avLst/>
          </a:prstGeom>
          <a:ln w="28575">
            <a:solidFill>
              <a:srgbClr val="1E6BE3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8200F84-409B-4BB0-9B3C-948A67676A0F}"/>
              </a:ext>
            </a:extLst>
          </p:cNvPr>
          <p:cNvSpPr>
            <a:spLocks noGrp="1"/>
          </p:cNvSpPr>
          <p:nvPr/>
        </p:nvSpPr>
        <p:spPr>
          <a:xfrm>
            <a:off x="5391150" y="2428875"/>
            <a:ext cx="1905000" cy="704850"/>
          </a:xfrm>
          <a:prstGeom prst="roundRect">
            <a:avLst>
              <a:gd name="adj" fmla="val 16216"/>
            </a:avLst>
          </a:prstGeom>
          <a:solidFill>
            <a:srgbClr val="F3F6F9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967335-03F0-430C-9E57-AEA6AFDA8914}"/>
              </a:ext>
            </a:extLst>
          </p:cNvPr>
          <p:cNvSpPr>
            <a:spLocks noGrp="1"/>
          </p:cNvSpPr>
          <p:nvPr/>
        </p:nvSpPr>
        <p:spPr>
          <a:xfrm>
            <a:off x="5505450" y="2609850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波导内全反射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55589D4D-FDAD-4390-8916-CE4C88405AF9}"/>
              </a:ext>
            </a:extLst>
          </p:cNvPr>
          <p:cNvSpPr>
            <a:spLocks noGrp="1"/>
          </p:cNvSpPr>
          <p:nvPr/>
        </p:nvSpPr>
        <p:spPr>
          <a:xfrm>
            <a:off x="7315200" y="2781300"/>
            <a:ext cx="400050" cy="0"/>
          </a:xfrm>
          <a:prstGeom prst="line">
            <a:avLst/>
          </a:prstGeom>
          <a:ln w="28575">
            <a:solidFill>
              <a:srgbClr val="1E6BE3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23F4280-B95C-447B-BDF7-8B2C8537F8E3}"/>
              </a:ext>
            </a:extLst>
          </p:cNvPr>
          <p:cNvSpPr>
            <a:spLocks noGrp="1"/>
          </p:cNvSpPr>
          <p:nvPr/>
        </p:nvSpPr>
        <p:spPr>
          <a:xfrm>
            <a:off x="8286750" y="2428875"/>
            <a:ext cx="1905000" cy="704850"/>
          </a:xfrm>
          <a:prstGeom prst="roundRect">
            <a:avLst>
              <a:gd name="adj" fmla="val 16216"/>
            </a:avLst>
          </a:prstGeom>
          <a:solidFill>
            <a:srgbClr val="F3F6F9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9AA60F-805F-4950-958B-C6F354771B90}"/>
              </a:ext>
            </a:extLst>
          </p:cNvPr>
          <p:cNvSpPr>
            <a:spLocks noGrp="1"/>
          </p:cNvSpPr>
          <p:nvPr/>
        </p:nvSpPr>
        <p:spPr>
          <a:xfrm>
            <a:off x="8401050" y="2609850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出耦至人眼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FA308F6-2008-4791-8931-287B2E4E19C5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关键公式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E4FAB6D-7E5F-4AB8-A97B-6DE4B844EAE1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4857750" cy="952500"/>
          </a:xfrm>
          <a:prstGeom prst="roundRect">
            <a:avLst>
              <a:gd name="adj" fmla="val 12000"/>
            </a:avLst>
          </a:prstGeom>
          <a:solidFill>
            <a:srgbClr val="F7FBFF"/>
          </a:solidFill>
          <a:ln w="9525">
            <a:solidFill>
              <a:srgbClr val="CAE1F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2EF5FDE-CC0A-463B-9E22-43EA37EBA6BF}"/>
              </a:ext>
            </a:extLst>
          </p:cNvPr>
          <p:cNvSpPr>
            <a:spLocks noGrp="1"/>
          </p:cNvSpPr>
          <p:nvPr/>
        </p:nvSpPr>
        <p:spPr>
          <a:xfrm>
            <a:off x="857250" y="445770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nₐᵢᵣ sinθᵢₙ + mλ/Λ = nwg sinθwg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CB85EF8-6AA1-4B1E-817D-1B07AE3F59FF}"/>
              </a:ext>
            </a:extLst>
          </p:cNvPr>
          <p:cNvSpPr>
            <a:spLocks noGrp="1"/>
          </p:cNvSpPr>
          <p:nvPr/>
        </p:nvSpPr>
        <p:spPr>
          <a:xfrm>
            <a:off x="5905500" y="4191000"/>
            <a:ext cx="5048250" cy="952500"/>
          </a:xfrm>
          <a:prstGeom prst="roundRect">
            <a:avLst>
              <a:gd name="adj" fmla="val 12000"/>
            </a:avLst>
          </a:prstGeom>
          <a:solidFill>
            <a:srgbClr val="F8FFFC"/>
          </a:solidFill>
          <a:ln w="9525">
            <a:solidFill>
              <a:srgbClr val="C5EF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7FC29F8-A849-4E56-9B23-830EF4A45294}"/>
              </a:ext>
            </a:extLst>
          </p:cNvPr>
          <p:cNvSpPr>
            <a:spLocks noGrp="1"/>
          </p:cNvSpPr>
          <p:nvPr/>
        </p:nvSpPr>
        <p:spPr>
          <a:xfrm>
            <a:off x="6191250" y="44767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18A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A6A0"/>
                </a:solidFill>
                <a:latin typeface="Microsoft YaHei"/>
                <a:ea typeface="Microsoft YaHei"/>
                <a:cs typeface="Microsoft YaHei"/>
              </a:rPr>
              <a:t>本例：λ = 532 nm，nwg = 1.8，Λ ≈ 386 nm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56D1468-E08E-46B5-AF7A-AE8DCFEC2AB1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设计含义：相同光栅对不同视场角、偏振和 RGB 波长的响应不同，这正是 AR 波导设计难点。</a:t>
            </a:r>
          </a:p>
        </p:txBody>
      </p:sp>
    </p:spTree>
    <p:extLst>
      <p:ext uri="{BB962C8B-B14F-4D97-AF65-F5344CB8AC3E}">
        <p14:creationId xmlns:p14="http://schemas.microsoft.com/office/powerpoint/2010/main" val="1419337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811D9602-17D7-4EF3-AD58-19461B7927B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03 模型搭建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CCC66D1-CD66-421B-9BE7-65EEB22B5F6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二维周期单元把“纳米光栅”从整机问题中拆出来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E1F4F2-A0C9-4CA7-9319-81A14C1C9483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51BFC4-7620-470A-8111-48D4F8754984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BE1E8AF-5883-4EEE-B89E-A7BD75E52F69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5429250" cy="3505200"/>
          </a:xfrm>
          <a:prstGeom prst="roundRect">
            <a:avLst>
              <a:gd name="adj" fmla="val 3261"/>
            </a:avLst>
          </a:prstGeom>
          <a:solidFill>
            <a:srgbClr val="FBFCFE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233CF8-B288-442A-81B9-972E5B6D262A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FDTD 二维 x–y 模型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DCB0C5C-956A-4933-94A9-73724E3B63BB}"/>
              </a:ext>
            </a:extLst>
          </p:cNvPr>
          <p:cNvSpPr>
            <a:spLocks noGrp="1"/>
          </p:cNvSpPr>
          <p:nvPr/>
        </p:nvSpPr>
        <p:spPr>
          <a:xfrm>
            <a:off x="1047750" y="2857500"/>
            <a:ext cx="4476750" cy="1238250"/>
          </a:xfrm>
          <a:prstGeom prst="roundRect">
            <a:avLst>
              <a:gd name="adj" fmla="val 1538"/>
            </a:avLst>
          </a:prstGeom>
          <a:solidFill>
            <a:srgbClr val="59D6D1"/>
          </a:solidFill>
          <a:ln w="9525">
            <a:solidFill>
              <a:srgbClr val="2ABFB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4B3AFA-BDF7-4A11-8AED-26A1478C2DC3}"/>
              </a:ext>
            </a:extLst>
          </p:cNvPr>
          <p:cNvSpPr>
            <a:spLocks noGrp="1"/>
          </p:cNvSpPr>
          <p:nvPr/>
        </p:nvSpPr>
        <p:spPr>
          <a:xfrm>
            <a:off x="1285875" y="33337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waveguide  n = 1.8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07E6CFC-B4BE-45B7-91EF-B9E003A12F98}"/>
              </a:ext>
            </a:extLst>
          </p:cNvPr>
          <p:cNvSpPr>
            <a:spLocks noGrp="1"/>
          </p:cNvSpPr>
          <p:nvPr/>
        </p:nvSpPr>
        <p:spPr>
          <a:xfrm>
            <a:off x="2809875" y="2524125"/>
            <a:ext cx="1333500" cy="333375"/>
          </a:xfrm>
          <a:prstGeom prst="roundRect">
            <a:avLst>
              <a:gd name="adj" fmla="val 5714"/>
            </a:avLst>
          </a:prstGeom>
          <a:solidFill>
            <a:srgbClr val="25BCEB"/>
          </a:solidFill>
          <a:ln w="9525">
            <a:solidFill>
              <a:srgbClr val="25BCE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2F5C9C-4225-4702-B1B5-ED2A50A5AF89}"/>
              </a:ext>
            </a:extLst>
          </p:cNvPr>
          <p:cNvSpPr>
            <a:spLocks noGrp="1"/>
          </p:cNvSpPr>
          <p:nvPr/>
        </p:nvSpPr>
        <p:spPr>
          <a:xfrm>
            <a:off x="2809875" y="259080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grating ridge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4D5EBF97-CA7C-480E-8DDB-3A4DCF2F778E}"/>
              </a:ext>
            </a:extLst>
          </p:cNvPr>
          <p:cNvSpPr>
            <a:spLocks noGrp="1"/>
          </p:cNvSpPr>
          <p:nvPr/>
        </p:nvSpPr>
        <p:spPr>
          <a:xfrm>
            <a:off x="4857750" y="2333625"/>
            <a:ext cx="0" cy="161925"/>
          </a:xfrm>
          <a:prstGeom prst="line">
            <a:avLst/>
          </a:prstGeom>
          <a:ln w="28575">
            <a:solidFill>
              <a:srgbClr val="F59E0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277DE6-09D3-4383-AE41-526AFD4DBE35}"/>
              </a:ext>
            </a:extLst>
          </p:cNvPr>
          <p:cNvSpPr>
            <a:spLocks noGrp="1"/>
          </p:cNvSpPr>
          <p:nvPr/>
        </p:nvSpPr>
        <p:spPr>
          <a:xfrm>
            <a:off x="3857625" y="203835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source  532 nm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5F583A-21C7-4C91-90F7-063A5CFE6F2C}"/>
              </a:ext>
            </a:extLst>
          </p:cNvPr>
          <p:cNvSpPr>
            <a:spLocks noGrp="1"/>
          </p:cNvSpPr>
          <p:nvPr/>
        </p:nvSpPr>
        <p:spPr>
          <a:xfrm>
            <a:off x="1000125" y="4286250"/>
            <a:ext cx="457200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2A34D6-4156-4E60-9FBB-5ED97483AD6A}"/>
              </a:ext>
            </a:extLst>
          </p:cNvPr>
          <p:cNvSpPr>
            <a:spLocks noGrp="1"/>
          </p:cNvSpPr>
          <p:nvPr/>
        </p:nvSpPr>
        <p:spPr>
          <a:xfrm>
            <a:off x="1143000" y="4552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x：Periodic  ｜  y：PML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FC8825-4807-4D3F-8CD4-A29E0DCB9631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仿真区域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CE8BDB9-4AF7-42C7-A3D8-7E93B28C770E}"/>
              </a:ext>
            </a:extLst>
          </p:cNvPr>
          <p:cNvSpPr>
            <a:spLocks noGrp="1"/>
          </p:cNvSpPr>
          <p:nvPr/>
        </p:nvSpPr>
        <p:spPr>
          <a:xfrm>
            <a:off x="8143875" y="20002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x span 0.386 μm；y = −0.7…0.8 μm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F1726E2-C9A3-40CC-B93D-5A759856A165}"/>
              </a:ext>
            </a:extLst>
          </p:cNvPr>
          <p:cNvSpPr>
            <a:spLocks noGrp="1"/>
          </p:cNvSpPr>
          <p:nvPr/>
        </p:nvSpPr>
        <p:spPr>
          <a:xfrm>
            <a:off x="6667500" y="2543175"/>
            <a:ext cx="4714875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BF1E450-EACC-4FFA-9D1F-3EC56EDA9D6A}"/>
              </a:ext>
            </a:extLst>
          </p:cNvPr>
          <p:cNvSpPr>
            <a:spLocks noGrp="1"/>
          </p:cNvSpPr>
          <p:nvPr/>
        </p:nvSpPr>
        <p:spPr>
          <a:xfrm>
            <a:off x="6667500" y="279082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A4BB5F3-F797-4D10-9CA2-A3F79ED677AA}"/>
              </a:ext>
            </a:extLst>
          </p:cNvPr>
          <p:cNvSpPr>
            <a:spLocks noGrp="1"/>
          </p:cNvSpPr>
          <p:nvPr/>
        </p:nvSpPr>
        <p:spPr>
          <a:xfrm>
            <a:off x="8143875" y="2790825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周期 386 nm；凸起宽 193 nm；高 120 nm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9FB2923-80B8-4DCD-B0C9-313FAE51508C}"/>
              </a:ext>
            </a:extLst>
          </p:cNvPr>
          <p:cNvSpPr>
            <a:spLocks noGrp="1"/>
          </p:cNvSpPr>
          <p:nvPr/>
        </p:nvSpPr>
        <p:spPr>
          <a:xfrm>
            <a:off x="6667500" y="3333750"/>
            <a:ext cx="4714875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735941C-2063-44A1-86CD-059308DB2B04}"/>
              </a:ext>
            </a:extLst>
          </p:cNvPr>
          <p:cNvSpPr>
            <a:spLocks noGrp="1"/>
          </p:cNvSpPr>
          <p:nvPr/>
        </p:nvSpPr>
        <p:spPr>
          <a:xfrm>
            <a:off x="6667500" y="35814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光源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D10695F-2532-4C40-BD6A-85179283603F}"/>
              </a:ext>
            </a:extLst>
          </p:cNvPr>
          <p:cNvSpPr>
            <a:spLocks noGrp="1"/>
          </p:cNvSpPr>
          <p:nvPr/>
        </p:nvSpPr>
        <p:spPr>
          <a:xfrm>
            <a:off x="8143875" y="358140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y 轴 Backward；500–600 nm（后切换到 532 nm）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416E1FE-CADD-478A-BE35-A905BC375280}"/>
              </a:ext>
            </a:extLst>
          </p:cNvPr>
          <p:cNvSpPr>
            <a:spLocks noGrp="1"/>
          </p:cNvSpPr>
          <p:nvPr/>
        </p:nvSpPr>
        <p:spPr>
          <a:xfrm>
            <a:off x="6667500" y="4124325"/>
            <a:ext cx="4714875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07B5CB2-88DF-44CB-A4D7-33F72F8AA637}"/>
              </a:ext>
            </a:extLst>
          </p:cNvPr>
          <p:cNvSpPr>
            <a:spLocks noGrp="1"/>
          </p:cNvSpPr>
          <p:nvPr/>
        </p:nvSpPr>
        <p:spPr>
          <a:xfrm>
            <a:off x="6667500" y="43719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监视器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7959AA4-B153-428C-BE0A-F1DD5E9B88D7}"/>
              </a:ext>
            </a:extLst>
          </p:cNvPr>
          <p:cNvSpPr>
            <a:spLocks noGrp="1"/>
          </p:cNvSpPr>
          <p:nvPr/>
        </p:nvSpPr>
        <p:spPr>
          <a:xfrm>
            <a:off x="8143875" y="4371975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R：y=0.65 μm；T：y=−0.3 μm；field / index 区域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55A8553-6570-46CE-AC96-86680DC4883D}"/>
              </a:ext>
            </a:extLst>
          </p:cNvPr>
          <p:cNvSpPr>
            <a:spLocks noGrp="1"/>
          </p:cNvSpPr>
          <p:nvPr/>
        </p:nvSpPr>
        <p:spPr>
          <a:xfrm>
            <a:off x="6667500" y="4914900"/>
            <a:ext cx="4714875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5217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D2378BE0-52FF-426C-A49A-E2A902E1D34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04 调试过程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465AD0-6D2F-419D-86DB-09ABAB613B1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先定位 monitor，再用能量守恒验证仿真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E0E5C7-1C55-4E00-87C4-24D8D1C90B6A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070CB9-CE3A-4BD7-A696-9D201D4B2535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3378A40-4145-42EC-BD5A-0D0A41F64F16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2324100" cy="2571750"/>
          </a:xfrm>
          <a:prstGeom prst="roundRect">
            <a:avLst>
              <a:gd name="adj" fmla="val 4918"/>
            </a:avLst>
          </a:prstGeom>
          <a:solidFill>
            <a:srgbClr val="F3F6F9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02EC208-4602-4D44-A397-5E326B3BF810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E6BE3"/>
          </a:solidFill>
          <a:ln w="9525">
            <a:solidFill>
              <a:srgbClr val="1E6BE3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B768D2-4BE4-4CCD-A723-2A4848AD04AC}"/>
              </a:ext>
            </a:extLst>
          </p:cNvPr>
          <p:cNvSpPr>
            <a:spLocks noGrp="1"/>
          </p:cNvSpPr>
          <p:nvPr/>
        </p:nvSpPr>
        <p:spPr>
          <a:xfrm>
            <a:off x="819150" y="24098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5B033D-1B9D-47A8-9B07-30427DDD3DCE}"/>
              </a:ext>
            </a:extLst>
          </p:cNvPr>
          <p:cNvSpPr>
            <a:spLocks noGrp="1"/>
          </p:cNvSpPr>
          <p:nvPr/>
        </p:nvSpPr>
        <p:spPr>
          <a:xfrm>
            <a:off x="819150" y="29527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先跑通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B5964B-3911-4D3A-A850-C767A7D88F88}"/>
              </a:ext>
            </a:extLst>
          </p:cNvPr>
          <p:cNvSpPr>
            <a:spLocks noGrp="1"/>
          </p:cNvSpPr>
          <p:nvPr/>
        </p:nvSpPr>
        <p:spPr>
          <a:xfrm>
            <a:off x="819150" y="3429000"/>
            <a:ext cx="1905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建立 FDTD、波导、光栅、光源与两个功率监视器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DBD4503C-AB30-4DCC-9D97-9DEF80A52748}"/>
              </a:ext>
            </a:extLst>
          </p:cNvPr>
          <p:cNvSpPr>
            <a:spLocks noGrp="1"/>
          </p:cNvSpPr>
          <p:nvPr/>
        </p:nvSpPr>
        <p:spPr>
          <a:xfrm>
            <a:off x="2952750" y="3476625"/>
            <a:ext cx="285750" cy="0"/>
          </a:xfrm>
          <a:prstGeom prst="line">
            <a:avLst/>
          </a:prstGeom>
          <a:ln w="28575">
            <a:solidFill>
              <a:srgbClr val="1E6BE3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4EFC594-3B43-4BF5-8D5A-C9B8134F6AD2}"/>
              </a:ext>
            </a:extLst>
          </p:cNvPr>
          <p:cNvSpPr>
            <a:spLocks noGrp="1"/>
          </p:cNvSpPr>
          <p:nvPr/>
        </p:nvSpPr>
        <p:spPr>
          <a:xfrm>
            <a:off x="3333750" y="2190750"/>
            <a:ext cx="2324100" cy="2571750"/>
          </a:xfrm>
          <a:prstGeom prst="roundRect">
            <a:avLst>
              <a:gd name="adj" fmla="val 4918"/>
            </a:avLst>
          </a:prstGeom>
          <a:solidFill>
            <a:srgbClr val="FFF8EC"/>
          </a:solidFill>
          <a:ln w="9525">
            <a:solidFill>
              <a:srgbClr val="F6CE8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8B73E07-AC7B-4175-A07B-B54EDE66A7E9}"/>
              </a:ext>
            </a:extLst>
          </p:cNvPr>
          <p:cNvSpPr>
            <a:spLocks noGrp="1"/>
          </p:cNvSpPr>
          <p:nvPr/>
        </p:nvSpPr>
        <p:spPr>
          <a:xfrm>
            <a:off x="3543300" y="24003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A368F1-D5A6-4660-B001-CD82831AE5FB}"/>
              </a:ext>
            </a:extLst>
          </p:cNvPr>
          <p:cNvSpPr>
            <a:spLocks noGrp="1"/>
          </p:cNvSpPr>
          <p:nvPr/>
        </p:nvSpPr>
        <p:spPr>
          <a:xfrm>
            <a:off x="3543300" y="24098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78068F-6EB7-4542-8137-1D9CA6EEF2EE}"/>
              </a:ext>
            </a:extLst>
          </p:cNvPr>
          <p:cNvSpPr>
            <a:spLocks noGrp="1"/>
          </p:cNvSpPr>
          <p:nvPr/>
        </p:nvSpPr>
        <p:spPr>
          <a:xfrm>
            <a:off x="3543300" y="29527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发现问题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DD12129-DD86-4DAE-839F-0097D15C77B7}"/>
              </a:ext>
            </a:extLst>
          </p:cNvPr>
          <p:cNvSpPr>
            <a:spLocks noGrp="1"/>
          </p:cNvSpPr>
          <p:nvPr/>
        </p:nvSpPr>
        <p:spPr>
          <a:xfrm>
            <a:off x="3543300" y="3429000"/>
            <a:ext cx="1905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初始 R_monitor 位于光源下方，测到的是入射光而不是反射光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C2083E2D-5EA8-4C71-B6D8-D727B8717F26}"/>
              </a:ext>
            </a:extLst>
          </p:cNvPr>
          <p:cNvSpPr>
            <a:spLocks noGrp="1"/>
          </p:cNvSpPr>
          <p:nvPr/>
        </p:nvSpPr>
        <p:spPr>
          <a:xfrm>
            <a:off x="5676900" y="3476625"/>
            <a:ext cx="285750" cy="0"/>
          </a:xfrm>
          <a:prstGeom prst="line">
            <a:avLst/>
          </a:prstGeom>
          <a:ln w="28575">
            <a:solidFill>
              <a:srgbClr val="1E6BE3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5493A12-017F-4C95-978A-C3F777BB8F3F}"/>
              </a:ext>
            </a:extLst>
          </p:cNvPr>
          <p:cNvSpPr>
            <a:spLocks noGrp="1"/>
          </p:cNvSpPr>
          <p:nvPr/>
        </p:nvSpPr>
        <p:spPr>
          <a:xfrm>
            <a:off x="6057900" y="2190750"/>
            <a:ext cx="2324100" cy="2571750"/>
          </a:xfrm>
          <a:prstGeom prst="roundRect">
            <a:avLst>
              <a:gd name="adj" fmla="val 4918"/>
            </a:avLst>
          </a:prstGeom>
          <a:solidFill>
            <a:srgbClr val="F3F6F9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6E2803A-C39F-4DEA-8154-F72B9B1F16C7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E6BE3"/>
          </a:solidFill>
          <a:ln w="9525">
            <a:solidFill>
              <a:srgbClr val="1E6BE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CB91E6D-BA08-4C09-988E-056CA1D285B7}"/>
              </a:ext>
            </a:extLst>
          </p:cNvPr>
          <p:cNvSpPr>
            <a:spLocks noGrp="1"/>
          </p:cNvSpPr>
          <p:nvPr/>
        </p:nvSpPr>
        <p:spPr>
          <a:xfrm>
            <a:off x="6267450" y="24098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B6ED083-01E5-4509-B5E0-D358EA3873E2}"/>
              </a:ext>
            </a:extLst>
          </p:cNvPr>
          <p:cNvSpPr>
            <a:spLocks noGrp="1"/>
          </p:cNvSpPr>
          <p:nvPr/>
        </p:nvSpPr>
        <p:spPr>
          <a:xfrm>
            <a:off x="6267450" y="29527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修正位置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7826F7D-A5D2-47AE-9B6F-E451F03BC927}"/>
              </a:ext>
            </a:extLst>
          </p:cNvPr>
          <p:cNvSpPr>
            <a:spLocks noGrp="1"/>
          </p:cNvSpPr>
          <p:nvPr/>
        </p:nvSpPr>
        <p:spPr>
          <a:xfrm>
            <a:off x="6267450" y="3429000"/>
            <a:ext cx="1905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把 R_monitor 移到 y = 0.65 μm，位于光源上方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A48E553C-1DC5-4710-8016-22B67BA42E5D}"/>
              </a:ext>
            </a:extLst>
          </p:cNvPr>
          <p:cNvSpPr>
            <a:spLocks noGrp="1"/>
          </p:cNvSpPr>
          <p:nvPr/>
        </p:nvSpPr>
        <p:spPr>
          <a:xfrm>
            <a:off x="8401050" y="3476625"/>
            <a:ext cx="285750" cy="0"/>
          </a:xfrm>
          <a:prstGeom prst="line">
            <a:avLst/>
          </a:prstGeom>
          <a:ln w="28575">
            <a:solidFill>
              <a:srgbClr val="1E6BE3"/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B286EFF-DAFF-4C63-AA11-ADE684E84A0D}"/>
              </a:ext>
            </a:extLst>
          </p:cNvPr>
          <p:cNvSpPr>
            <a:spLocks noGrp="1"/>
          </p:cNvSpPr>
          <p:nvPr/>
        </p:nvSpPr>
        <p:spPr>
          <a:xfrm>
            <a:off x="8782050" y="2190750"/>
            <a:ext cx="2324100" cy="2571750"/>
          </a:xfrm>
          <a:prstGeom prst="roundRect">
            <a:avLst>
              <a:gd name="adj" fmla="val 4918"/>
            </a:avLst>
          </a:prstGeom>
          <a:solidFill>
            <a:srgbClr val="F3F6F9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9D4F95E-9F9E-4CE7-A47C-83A55F08CF73}"/>
              </a:ext>
            </a:extLst>
          </p:cNvPr>
          <p:cNvSpPr>
            <a:spLocks noGrp="1"/>
          </p:cNvSpPr>
          <p:nvPr/>
        </p:nvSpPr>
        <p:spPr>
          <a:xfrm>
            <a:off x="8991600" y="24003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E6BE3"/>
          </a:solidFill>
          <a:ln w="9525">
            <a:solidFill>
              <a:srgbClr val="1E6BE3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CD0B97A-9C73-4A5F-8FC9-645FC182942E}"/>
              </a:ext>
            </a:extLst>
          </p:cNvPr>
          <p:cNvSpPr>
            <a:spLocks noGrp="1"/>
          </p:cNvSpPr>
          <p:nvPr/>
        </p:nvSpPr>
        <p:spPr>
          <a:xfrm>
            <a:off x="8991600" y="24098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EE83070-68C0-4A15-957C-88AC2345AFC7}"/>
              </a:ext>
            </a:extLst>
          </p:cNvPr>
          <p:cNvSpPr>
            <a:spLocks noGrp="1"/>
          </p:cNvSpPr>
          <p:nvPr/>
        </p:nvSpPr>
        <p:spPr>
          <a:xfrm>
            <a:off x="8991600" y="29527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重新验证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67D635B-8E45-4DA6-A641-59E51FD65605}"/>
              </a:ext>
            </a:extLst>
          </p:cNvPr>
          <p:cNvSpPr>
            <a:spLocks noGrp="1"/>
          </p:cNvSpPr>
          <p:nvPr/>
        </p:nvSpPr>
        <p:spPr>
          <a:xfrm>
            <a:off x="8991600" y="3429000"/>
            <a:ext cx="1905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R 曲线转为正值；T 保持负值，符合向 −y 传播的符号约定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A490341-6538-48DA-9DC5-DA703AA4A67D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这一步避免了一个常见误判：功率曲线接近 −1 不一定代表“高反射”，也可能只是 monitor 截获了入射光。</a:t>
            </a:r>
          </a:p>
        </p:txBody>
      </p:sp>
    </p:spTree>
    <p:extLst>
      <p:ext uri="{BB962C8B-B14F-4D97-AF65-F5344CB8AC3E}">
        <p14:creationId xmlns:p14="http://schemas.microsoft.com/office/powerpoint/2010/main" val="1003850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E10702C5-DB32-4225-9D5B-44AFF728DC9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05 结果与验证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8AFA5E-AFE8-46B8-9483-AB61B31AF54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532 nm 附近的能量守恒成立，模型已具备可信基础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0AA86B-6B1D-463D-91DE-5EAE589A4713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5A5923-720A-4D1C-9715-98B3169847A6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AF8E64B-7A55-4086-9B49-4FED03FECF00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32385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62A723-7D6D-4378-B3DA-0F6447ED6057}"/>
              </a:ext>
            </a:extLst>
          </p:cNvPr>
          <p:cNvSpPr>
            <a:spLocks noGrp="1"/>
          </p:cNvSpPr>
          <p:nvPr/>
        </p:nvSpPr>
        <p:spPr>
          <a:xfrm>
            <a:off x="838200" y="23622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反射 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BDD617-3068-4910-91B5-5D25E700FED8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2809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约 0–0.45%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AAC4C5D-0D32-4443-9770-DF10EB67A457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276225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8EBDA5-E690-49CA-9975-2EB18B7DDAE2}"/>
              </a:ext>
            </a:extLst>
          </p:cNvPr>
          <p:cNvSpPr>
            <a:spLocks noGrp="1"/>
          </p:cNvSpPr>
          <p:nvPr/>
        </p:nvSpPr>
        <p:spPr>
          <a:xfrm>
            <a:off x="838200" y="376237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R_monitor 位于光源上方后得到正向反射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369B95C-9463-490A-AFE4-FF814BB6CC5B}"/>
              </a:ext>
            </a:extLst>
          </p:cNvPr>
          <p:cNvSpPr>
            <a:spLocks noGrp="1"/>
          </p:cNvSpPr>
          <p:nvPr/>
        </p:nvSpPr>
        <p:spPr>
          <a:xfrm>
            <a:off x="4171950" y="2095500"/>
            <a:ext cx="32385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D3DB1D-CB6A-4F95-80DD-5B90D76E7441}"/>
              </a:ext>
            </a:extLst>
          </p:cNvPr>
          <p:cNvSpPr>
            <a:spLocks noGrp="1"/>
          </p:cNvSpPr>
          <p:nvPr/>
        </p:nvSpPr>
        <p:spPr>
          <a:xfrm>
            <a:off x="4400550" y="23622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物理透射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6FCB1E-BA7B-449D-B90D-89857B81F05E}"/>
              </a:ext>
            </a:extLst>
          </p:cNvPr>
          <p:cNvSpPr>
            <a:spLocks noGrp="1"/>
          </p:cNvSpPr>
          <p:nvPr/>
        </p:nvSpPr>
        <p:spPr>
          <a:xfrm>
            <a:off x="4400550" y="2876550"/>
            <a:ext cx="2809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18A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A6A0"/>
                </a:solidFill>
                <a:latin typeface="Microsoft YaHei"/>
                <a:ea typeface="Microsoft YaHei"/>
                <a:cs typeface="Microsoft YaHei"/>
              </a:rPr>
              <a:t>约 99.2–99.75%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34E055-70FC-49BE-AE84-9BF2B7F7F99B}"/>
              </a:ext>
            </a:extLst>
          </p:cNvPr>
          <p:cNvSpPr>
            <a:spLocks noGrp="1"/>
          </p:cNvSpPr>
          <p:nvPr/>
        </p:nvSpPr>
        <p:spPr>
          <a:xfrm>
            <a:off x="4400550" y="3581400"/>
            <a:ext cx="276225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E7538E3-B5BD-4FE5-8BA2-F8E8CF4DFF02}"/>
              </a:ext>
            </a:extLst>
          </p:cNvPr>
          <p:cNvSpPr>
            <a:spLocks noGrp="1"/>
          </p:cNvSpPr>
          <p:nvPr/>
        </p:nvSpPr>
        <p:spPr>
          <a:xfrm>
            <a:off x="4400550" y="376237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Tphysical = −T_monitor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CFB1508-ED05-438E-9066-D8946A9A4CD7}"/>
              </a:ext>
            </a:extLst>
          </p:cNvPr>
          <p:cNvSpPr>
            <a:spLocks noGrp="1"/>
          </p:cNvSpPr>
          <p:nvPr/>
        </p:nvSpPr>
        <p:spPr>
          <a:xfrm>
            <a:off x="7734300" y="2095500"/>
            <a:ext cx="32385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6305BD0-EE5D-4427-BE76-930714796121}"/>
              </a:ext>
            </a:extLst>
          </p:cNvPr>
          <p:cNvSpPr>
            <a:spLocks noGrp="1"/>
          </p:cNvSpPr>
          <p:nvPr/>
        </p:nvSpPr>
        <p:spPr>
          <a:xfrm>
            <a:off x="7962900" y="23622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守恒误差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9EEB75-EF60-4BE7-8C01-EB69A249469D}"/>
              </a:ext>
            </a:extLst>
          </p:cNvPr>
          <p:cNvSpPr>
            <a:spLocks noGrp="1"/>
          </p:cNvSpPr>
          <p:nvPr/>
        </p:nvSpPr>
        <p:spPr>
          <a:xfrm>
            <a:off x="7962900" y="2876550"/>
            <a:ext cx="2809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约 0.2–0.4%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39B2B7-037D-4568-9596-430A9025D74F}"/>
              </a:ext>
            </a:extLst>
          </p:cNvPr>
          <p:cNvSpPr>
            <a:spLocks noGrp="1"/>
          </p:cNvSpPr>
          <p:nvPr/>
        </p:nvSpPr>
        <p:spPr>
          <a:xfrm>
            <a:off x="7962900" y="3581400"/>
            <a:ext cx="276225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E2354A-9441-4E06-93B2-4F5B94DAB557}"/>
              </a:ext>
            </a:extLst>
          </p:cNvPr>
          <p:cNvSpPr>
            <a:spLocks noGrp="1"/>
          </p:cNvSpPr>
          <p:nvPr/>
        </p:nvSpPr>
        <p:spPr>
          <a:xfrm>
            <a:off x="7962900" y="376237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来源：网格、PML 与有限仿真时间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DB74547-32CE-4910-9EA2-48F2D902A00C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668000" cy="876300"/>
          </a:xfrm>
          <a:prstGeom prst="roundRect">
            <a:avLst>
              <a:gd name="adj" fmla="val 13043"/>
            </a:avLst>
          </a:prstGeom>
          <a:solidFill>
            <a:srgbClr val="F8FBFF"/>
          </a:solidFill>
          <a:ln w="9525">
            <a:solidFill>
              <a:srgbClr val="CAE1FA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0EE8D74-34C1-4910-8215-918F36448FC9}"/>
              </a:ext>
            </a:extLst>
          </p:cNvPr>
          <p:cNvSpPr>
            <a:spLocks noGrp="1"/>
          </p:cNvSpPr>
          <p:nvPr/>
        </p:nvSpPr>
        <p:spPr>
          <a:xfrm>
            <a:off x="895350" y="5029200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能量检查：R + (−Tmonitor) ≈ 1。这个检查比“电场图看起来很漂亮”更重要。</a:t>
            </a:r>
          </a:p>
        </p:txBody>
      </p:sp>
    </p:spTree>
    <p:extLst>
      <p:ext uri="{BB962C8B-B14F-4D97-AF65-F5344CB8AC3E}">
        <p14:creationId xmlns:p14="http://schemas.microsoft.com/office/powerpoint/2010/main" val="249777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66E3FFD4-BCEF-45B3-8154-7324B5F9567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06 下一步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64332E-2EAB-4E27-B44A-8DDAC437BDF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从“能量进入玻璃”走向“定向耦入 AR 波导”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1825CA-24B0-4BCC-AE53-7183E65D7611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37E103-3906-455A-B5AD-45E19C79D3D5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B40D4C7-49A0-4882-94CD-C4A97FA0BA82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E6BE3"/>
          </a:solidFill>
          <a:ln w="9525">
            <a:solidFill>
              <a:srgbClr val="1E6BE3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A8D567-C1C9-4DED-93A5-F7C65FEF19D2}"/>
              </a:ext>
            </a:extLst>
          </p:cNvPr>
          <p:cNvSpPr>
            <a:spLocks noGrp="1"/>
          </p:cNvSpPr>
          <p:nvPr/>
        </p:nvSpPr>
        <p:spPr>
          <a:xfrm>
            <a:off x="742950" y="20859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573FEA-1BBC-43E9-ABFF-206EADC18FFA}"/>
              </a:ext>
            </a:extLst>
          </p:cNvPr>
          <p:cNvSpPr>
            <a:spLocks noGrp="1"/>
          </p:cNvSpPr>
          <p:nvPr/>
        </p:nvSpPr>
        <p:spPr>
          <a:xfrm>
            <a:off x="1381125" y="20288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看功率流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222609-12B8-4B4E-B31F-891000CE2CE6}"/>
              </a:ext>
            </a:extLst>
          </p:cNvPr>
          <p:cNvSpPr>
            <a:spLocks noGrp="1"/>
          </p:cNvSpPr>
          <p:nvPr/>
        </p:nvSpPr>
        <p:spPr>
          <a:xfrm>
            <a:off x="3286125" y="2028825"/>
            <a:ext cx="7429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用 field_monitor 的 Poynting vector 判断能量是否横向传播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8486B5-5CDC-4855-ABEE-BC82BE01CB40}"/>
              </a:ext>
            </a:extLst>
          </p:cNvPr>
          <p:cNvSpPr>
            <a:spLocks noGrp="1"/>
          </p:cNvSpPr>
          <p:nvPr/>
        </p:nvSpPr>
        <p:spPr>
          <a:xfrm>
            <a:off x="1381125" y="2543175"/>
            <a:ext cx="933450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28AF26B-0CF9-4994-AF0F-C646A4F8C965}"/>
              </a:ext>
            </a:extLst>
          </p:cNvPr>
          <p:cNvSpPr>
            <a:spLocks noGrp="1"/>
          </p:cNvSpPr>
          <p:nvPr/>
        </p:nvSpPr>
        <p:spPr>
          <a:xfrm>
            <a:off x="742950" y="2962275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E6BE3"/>
          </a:solidFill>
          <a:ln w="9525">
            <a:solidFill>
              <a:srgbClr val="1E6BE3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1F7A259-35ED-4F15-B270-460EDCE7C639}"/>
              </a:ext>
            </a:extLst>
          </p:cNvPr>
          <p:cNvSpPr>
            <a:spLocks noGrp="1"/>
          </p:cNvSpPr>
          <p:nvPr/>
        </p:nvSpPr>
        <p:spPr>
          <a:xfrm>
            <a:off x="742950" y="29718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F33A8F-7EB8-4DC2-AE53-B8E44868441D}"/>
              </a:ext>
            </a:extLst>
          </p:cNvPr>
          <p:cNvSpPr>
            <a:spLocks noGrp="1"/>
          </p:cNvSpPr>
          <p:nvPr/>
        </p:nvSpPr>
        <p:spPr>
          <a:xfrm>
            <a:off x="1381125" y="29146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区分光栅与场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1CB2EC6-B817-4B96-8E0B-2D1FABE3B059}"/>
              </a:ext>
            </a:extLst>
          </p:cNvPr>
          <p:cNvSpPr>
            <a:spLocks noGrp="1"/>
          </p:cNvSpPr>
          <p:nvPr/>
        </p:nvSpPr>
        <p:spPr>
          <a:xfrm>
            <a:off x="3286125" y="2914650"/>
            <a:ext cx="7429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用 index_monitor 叠加结构位置与电场热点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2DC9A8-1761-4068-A4F6-69C84D963AA4}"/>
              </a:ext>
            </a:extLst>
          </p:cNvPr>
          <p:cNvSpPr>
            <a:spLocks noGrp="1"/>
          </p:cNvSpPr>
          <p:nvPr/>
        </p:nvSpPr>
        <p:spPr>
          <a:xfrm>
            <a:off x="1381125" y="3429000"/>
            <a:ext cx="933450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D033251-F172-419B-8309-AB2B7B462BA7}"/>
              </a:ext>
            </a:extLst>
          </p:cNvPr>
          <p:cNvSpPr>
            <a:spLocks noGrp="1"/>
          </p:cNvSpPr>
          <p:nvPr/>
        </p:nvSpPr>
        <p:spPr>
          <a:xfrm>
            <a:off x="742950" y="38481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8A6A0"/>
          </a:solidFill>
          <a:ln w="9525">
            <a:solidFill>
              <a:srgbClr val="18A6A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DE9C4A7-C07E-4F0B-A979-D42C21850AED}"/>
              </a:ext>
            </a:extLst>
          </p:cNvPr>
          <p:cNvSpPr>
            <a:spLocks noGrp="1"/>
          </p:cNvSpPr>
          <p:nvPr/>
        </p:nvSpPr>
        <p:spPr>
          <a:xfrm>
            <a:off x="742950" y="38576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5A7777-068E-4B7B-AEC2-A1366D65C063}"/>
              </a:ext>
            </a:extLst>
          </p:cNvPr>
          <p:cNvSpPr>
            <a:spLocks noGrp="1"/>
          </p:cNvSpPr>
          <p:nvPr/>
        </p:nvSpPr>
        <p:spPr>
          <a:xfrm>
            <a:off x="1381125" y="38004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打破对称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E62131-E929-46F5-83FC-CDE926C5031E}"/>
              </a:ext>
            </a:extLst>
          </p:cNvPr>
          <p:cNvSpPr>
            <a:spLocks noGrp="1"/>
          </p:cNvSpPr>
          <p:nvPr/>
        </p:nvSpPr>
        <p:spPr>
          <a:xfrm>
            <a:off x="3286125" y="3800475"/>
            <a:ext cx="7429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引入斜入射或非对称 / 闪耀结构，偏向单一 +1 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FF9D4C-6AD5-43E7-B17C-FC51486B262D}"/>
              </a:ext>
            </a:extLst>
          </p:cNvPr>
          <p:cNvSpPr>
            <a:spLocks noGrp="1"/>
          </p:cNvSpPr>
          <p:nvPr/>
        </p:nvSpPr>
        <p:spPr>
          <a:xfrm>
            <a:off x="1381125" y="4314825"/>
            <a:ext cx="933450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34815FE-C96D-4112-B243-6FFEA64B08C4}"/>
              </a:ext>
            </a:extLst>
          </p:cNvPr>
          <p:cNvSpPr>
            <a:spLocks noGrp="1"/>
          </p:cNvSpPr>
          <p:nvPr/>
        </p:nvSpPr>
        <p:spPr>
          <a:xfrm>
            <a:off x="742950" y="4733925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8A6A0"/>
          </a:solidFill>
          <a:ln w="9525">
            <a:solidFill>
              <a:srgbClr val="18A6A0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320D99-04BB-43EB-81A4-61C1F17180D0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5EE3702-D569-43A2-8F8C-FEDB4DD910E9}"/>
              </a:ext>
            </a:extLst>
          </p:cNvPr>
          <p:cNvSpPr>
            <a:spLocks noGrp="1"/>
          </p:cNvSpPr>
          <p:nvPr/>
        </p:nvSpPr>
        <p:spPr>
          <a:xfrm>
            <a:off x="1381125" y="4686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进入工程化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AF58B64-9A2D-49B3-9073-221F3A60F478}"/>
              </a:ext>
            </a:extLst>
          </p:cNvPr>
          <p:cNvSpPr>
            <a:spLocks noGrp="1"/>
          </p:cNvSpPr>
          <p:nvPr/>
        </p:nvSpPr>
        <p:spPr>
          <a:xfrm>
            <a:off x="3286125" y="4686300"/>
            <a:ext cx="7429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扫描周期、占空比、深度、TE/TM 与 RGB；加入工艺容差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912D2B-23EB-4FD1-A7CF-9D6D4D82F37C}"/>
              </a:ext>
            </a:extLst>
          </p:cNvPr>
          <p:cNvSpPr>
            <a:spLocks noGrp="1"/>
          </p:cNvSpPr>
          <p:nvPr/>
        </p:nvSpPr>
        <p:spPr>
          <a:xfrm>
            <a:off x="1381125" y="5200650"/>
            <a:ext cx="933450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D9838DB-860F-43F2-9945-961E88D14348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结论：今天完成的是一个可复现、可验证的起点；下一阶段的目标是“高效率且定向的波导耦合”。</a:t>
            </a:r>
          </a:p>
        </p:txBody>
      </p:sp>
    </p:spTree>
    <p:extLst>
      <p:ext uri="{BB962C8B-B14F-4D97-AF65-F5344CB8AC3E}">
        <p14:creationId xmlns:p14="http://schemas.microsoft.com/office/powerpoint/2010/main" val="1169614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8E37E7A-01EA-1C7F-1862-DF827D71B509}"/>
              </a:ext>
            </a:extLst>
          </p:cNvPr>
          <p:cNvSpPr txBox="1"/>
          <p:nvPr/>
        </p:nvSpPr>
        <p:spPr>
          <a:xfrm>
            <a:off x="609600" y="376366"/>
            <a:ext cx="4572000" cy="1692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CN" sz="1100" b="1">
                <a:solidFill>
                  <a:srgbClr val="1E6BE3"/>
                </a:solidFill>
                <a:latin typeface="Microsoft YaHei" panose="020B0503020204020204" pitchFamily="34" charset="-122"/>
              </a:rPr>
              <a:t>07 </a:t>
            </a:r>
            <a:r>
              <a:rPr lang="zh-CN" altLang="en-US" sz="1100" b="1">
                <a:solidFill>
                  <a:srgbClr val="1E6BE3"/>
                </a:solidFill>
                <a:latin typeface="Microsoft YaHei" panose="020B0503020204020204" pitchFamily="34" charset="-122"/>
              </a:rPr>
              <a:t>最终设计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7CAD1-67B2-B1F1-8356-06D9C3D23B37}"/>
              </a:ext>
            </a:extLst>
          </p:cNvPr>
          <p:cNvSpPr txBox="1"/>
          <p:nvPr/>
        </p:nvSpPr>
        <p:spPr>
          <a:xfrm>
            <a:off x="609600" y="706566"/>
            <a:ext cx="10972800" cy="41549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从初始模型收敛到 </a:t>
            </a:r>
            <a:r>
              <a:rPr lang="en-US" altLang="zh-CN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532 nm TE </a:t>
            </a:r>
            <a:r>
              <a:rPr lang="zh-CN" altLang="en-US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优化结构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0392EA-772B-4091-C3AF-8C264F29BBD6}"/>
              </a:ext>
            </a:extLst>
          </p:cNvPr>
          <p:cNvSpPr/>
          <p:nvPr/>
        </p:nvSpPr>
        <p:spPr>
          <a:xfrm>
            <a:off x="609600" y="1422400"/>
            <a:ext cx="10972800" cy="12700"/>
          </a:xfrm>
          <a:prstGeom prst="rect">
            <a:avLst/>
          </a:prstGeom>
          <a:solidFill>
            <a:srgbClr val="D7DEE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DF7F9F-DEA1-1FC5-C177-2846414F463C}"/>
              </a:ext>
            </a:extLst>
          </p:cNvPr>
          <p:cNvSpPr txBox="1"/>
          <p:nvPr/>
        </p:nvSpPr>
        <p:spPr>
          <a:xfrm>
            <a:off x="11112500" y="6370766"/>
            <a:ext cx="4572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556070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1000" b="1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F0DA471-9179-F55E-543C-C7C3BB74154C}"/>
              </a:ext>
            </a:extLst>
          </p:cNvPr>
          <p:cNvSpPr/>
          <p:nvPr/>
        </p:nvSpPr>
        <p:spPr>
          <a:xfrm>
            <a:off x="609600" y="1778000"/>
            <a:ext cx="52070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FD718F-E6E8-1C85-9CC6-677396B4EC02}"/>
              </a:ext>
            </a:extLst>
          </p:cNvPr>
          <p:cNvSpPr txBox="1"/>
          <p:nvPr/>
        </p:nvSpPr>
        <p:spPr>
          <a:xfrm>
            <a:off x="838200" y="1925766"/>
            <a:ext cx="1905000" cy="184666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200" b="1">
                <a:solidFill>
                  <a:srgbClr val="556070"/>
                </a:solidFill>
                <a:latin typeface="Microsoft YaHei" panose="020B0503020204020204" pitchFamily="34" charset="-122"/>
              </a:rPr>
              <a:t>波长 </a:t>
            </a:r>
            <a:r>
              <a:rPr lang="en-US" altLang="zh-CN" sz="1200" b="1">
                <a:solidFill>
                  <a:srgbClr val="55607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b="1">
                <a:solidFill>
                  <a:srgbClr val="556070"/>
                </a:solidFill>
                <a:latin typeface="Microsoft YaHei" panose="020B0503020204020204" pitchFamily="34" charset="-122"/>
              </a:rPr>
              <a:t>折射率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C9A740-A612-B48C-E268-1349DA12F2B4}"/>
              </a:ext>
            </a:extLst>
          </p:cNvPr>
          <p:cNvSpPr txBox="1"/>
          <p:nvPr/>
        </p:nvSpPr>
        <p:spPr>
          <a:xfrm>
            <a:off x="2832100" y="1925766"/>
            <a:ext cx="27305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US" altLang="zh-CN" sz="2000" b="1">
                <a:solidFill>
                  <a:srgbClr val="1E6BE3"/>
                </a:solidFill>
                <a:latin typeface="Microsoft YaHei" panose="020B0503020204020204" pitchFamily="34" charset="-122"/>
              </a:rPr>
              <a:t>532 nm / 1.8</a:t>
            </a:r>
            <a:endParaRPr lang="zh-CN" altLang="en-US" sz="2000" b="1">
              <a:solidFill>
                <a:srgbClr val="1E6BE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DC81AA2-5EC7-9F53-58D0-9452E35249B6}"/>
              </a:ext>
            </a:extLst>
          </p:cNvPr>
          <p:cNvSpPr/>
          <p:nvPr/>
        </p:nvSpPr>
        <p:spPr>
          <a:xfrm>
            <a:off x="6172200" y="1778000"/>
            <a:ext cx="52070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05A8B1B-53B5-DF30-3777-53579BFA70EC}"/>
              </a:ext>
            </a:extLst>
          </p:cNvPr>
          <p:cNvSpPr txBox="1"/>
          <p:nvPr/>
        </p:nvSpPr>
        <p:spPr>
          <a:xfrm>
            <a:off x="6400800" y="1925766"/>
            <a:ext cx="1905000" cy="184666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200" b="1">
                <a:solidFill>
                  <a:srgbClr val="556070"/>
                </a:solidFill>
                <a:latin typeface="Microsoft YaHei" panose="020B0503020204020204" pitchFamily="34" charset="-122"/>
              </a:rPr>
              <a:t>周期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E6FFA43-1A1F-4194-C7B1-1CBFFAFFB6D1}"/>
              </a:ext>
            </a:extLst>
          </p:cNvPr>
          <p:cNvSpPr txBox="1"/>
          <p:nvPr/>
        </p:nvSpPr>
        <p:spPr>
          <a:xfrm>
            <a:off x="8394700" y="1925766"/>
            <a:ext cx="27305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US" altLang="zh-CN" sz="2000" b="1">
                <a:solidFill>
                  <a:srgbClr val="1E6BE3"/>
                </a:solidFill>
                <a:latin typeface="Microsoft YaHei" panose="020B0503020204020204" pitchFamily="34" charset="-122"/>
              </a:rPr>
              <a:t>386 nm</a:t>
            </a:r>
            <a:endParaRPr lang="zh-CN" altLang="en-US" sz="2000" b="1">
              <a:solidFill>
                <a:srgbClr val="1E6BE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A0D3C1D-1BD0-C5BA-4F2E-EF7EE8F9A6B9}"/>
              </a:ext>
            </a:extLst>
          </p:cNvPr>
          <p:cNvSpPr/>
          <p:nvPr/>
        </p:nvSpPr>
        <p:spPr>
          <a:xfrm>
            <a:off x="609600" y="2819400"/>
            <a:ext cx="52070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986A49-CD44-7FC0-CFE5-160E30642930}"/>
              </a:ext>
            </a:extLst>
          </p:cNvPr>
          <p:cNvSpPr txBox="1"/>
          <p:nvPr/>
        </p:nvSpPr>
        <p:spPr>
          <a:xfrm>
            <a:off x="838200" y="2967166"/>
            <a:ext cx="1905000" cy="184666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200" b="1">
                <a:solidFill>
                  <a:srgbClr val="556070"/>
                </a:solidFill>
                <a:latin typeface="Microsoft YaHei" panose="020B0503020204020204" pitchFamily="34" charset="-122"/>
              </a:rPr>
              <a:t>占空比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7225F01-B637-22B6-1788-6B3BAA11E8B9}"/>
              </a:ext>
            </a:extLst>
          </p:cNvPr>
          <p:cNvSpPr txBox="1"/>
          <p:nvPr/>
        </p:nvSpPr>
        <p:spPr>
          <a:xfrm>
            <a:off x="2832100" y="2967166"/>
            <a:ext cx="27305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US" altLang="zh-CN" sz="2000" b="1">
                <a:solidFill>
                  <a:srgbClr val="1E6BE3"/>
                </a:solidFill>
                <a:latin typeface="Microsoft YaHei" panose="020B0503020204020204" pitchFamily="34" charset="-122"/>
              </a:rPr>
              <a:t>65%</a:t>
            </a:r>
            <a:endParaRPr lang="zh-CN" altLang="en-US" sz="2000" b="1">
              <a:solidFill>
                <a:srgbClr val="1E6BE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49D56F2-BCDF-0962-1E6E-18F34D31377F}"/>
              </a:ext>
            </a:extLst>
          </p:cNvPr>
          <p:cNvSpPr/>
          <p:nvPr/>
        </p:nvSpPr>
        <p:spPr>
          <a:xfrm>
            <a:off x="6172200" y="2819400"/>
            <a:ext cx="52070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C5B75D1-DDB5-C653-D950-5BDDB6EF65ED}"/>
              </a:ext>
            </a:extLst>
          </p:cNvPr>
          <p:cNvSpPr txBox="1"/>
          <p:nvPr/>
        </p:nvSpPr>
        <p:spPr>
          <a:xfrm>
            <a:off x="6400800" y="2967166"/>
            <a:ext cx="1905000" cy="184666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200" b="1">
                <a:solidFill>
                  <a:srgbClr val="556070"/>
                </a:solidFill>
                <a:latin typeface="Microsoft YaHei" panose="020B0503020204020204" pitchFamily="34" charset="-122"/>
              </a:rPr>
              <a:t>光栅高度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9A2C5FC-AF9A-9BB3-2960-1E8B1F4CDB87}"/>
              </a:ext>
            </a:extLst>
          </p:cNvPr>
          <p:cNvSpPr txBox="1"/>
          <p:nvPr/>
        </p:nvSpPr>
        <p:spPr>
          <a:xfrm>
            <a:off x="8394700" y="2967166"/>
            <a:ext cx="27305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US" altLang="zh-CN" sz="2000" b="1">
                <a:solidFill>
                  <a:srgbClr val="1E6BE3"/>
                </a:solidFill>
                <a:latin typeface="Microsoft YaHei" panose="020B0503020204020204" pitchFamily="34" charset="-122"/>
              </a:rPr>
              <a:t>160 nm</a:t>
            </a:r>
            <a:endParaRPr lang="zh-CN" altLang="en-US" sz="2000" b="1">
              <a:solidFill>
                <a:srgbClr val="1E6BE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1036E0A-4D99-15BB-65AC-B8AAEB343E6D}"/>
              </a:ext>
            </a:extLst>
          </p:cNvPr>
          <p:cNvSpPr/>
          <p:nvPr/>
        </p:nvSpPr>
        <p:spPr>
          <a:xfrm>
            <a:off x="609600" y="3860800"/>
            <a:ext cx="52070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90F0C6F-9ADF-E234-8E5A-DF4C1F4BF139}"/>
              </a:ext>
            </a:extLst>
          </p:cNvPr>
          <p:cNvSpPr txBox="1"/>
          <p:nvPr/>
        </p:nvSpPr>
        <p:spPr>
          <a:xfrm>
            <a:off x="838200" y="4008566"/>
            <a:ext cx="1905000" cy="184666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200" b="1">
                <a:solidFill>
                  <a:srgbClr val="556070"/>
                </a:solidFill>
                <a:latin typeface="Microsoft YaHei" panose="020B0503020204020204" pitchFamily="34" charset="-122"/>
              </a:rPr>
              <a:t>入射角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04C35F9-5022-9477-6BD8-5193BF55E90E}"/>
              </a:ext>
            </a:extLst>
          </p:cNvPr>
          <p:cNvSpPr txBox="1"/>
          <p:nvPr/>
        </p:nvSpPr>
        <p:spPr>
          <a:xfrm>
            <a:off x="2832100" y="4008566"/>
            <a:ext cx="27305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US" altLang="zh-CN" sz="2000" b="1">
                <a:solidFill>
                  <a:srgbClr val="1E6BE3"/>
                </a:solidFill>
                <a:latin typeface="Microsoft YaHei" panose="020B0503020204020204" pitchFamily="34" charset="-122"/>
              </a:rPr>
              <a:t>15°</a:t>
            </a:r>
            <a:endParaRPr lang="zh-CN" altLang="en-US" sz="2000" b="1">
              <a:solidFill>
                <a:srgbClr val="1E6BE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3E3724C-CEF3-BF76-A465-2BDE4DC9AAFF}"/>
              </a:ext>
            </a:extLst>
          </p:cNvPr>
          <p:cNvSpPr/>
          <p:nvPr/>
        </p:nvSpPr>
        <p:spPr>
          <a:xfrm>
            <a:off x="6172200" y="3860800"/>
            <a:ext cx="52070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AB9D2C3-39E7-75FD-DE65-8C629F8CA748}"/>
              </a:ext>
            </a:extLst>
          </p:cNvPr>
          <p:cNvSpPr txBox="1"/>
          <p:nvPr/>
        </p:nvSpPr>
        <p:spPr>
          <a:xfrm>
            <a:off x="6400800" y="4008566"/>
            <a:ext cx="1905000" cy="184666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200" b="1">
                <a:solidFill>
                  <a:srgbClr val="556070"/>
                </a:solidFill>
                <a:latin typeface="Microsoft YaHei" panose="020B0503020204020204" pitchFamily="34" charset="-122"/>
              </a:rPr>
              <a:t>偏振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69B2193-CB05-AECE-F841-9AD2E68D2552}"/>
              </a:ext>
            </a:extLst>
          </p:cNvPr>
          <p:cNvSpPr txBox="1"/>
          <p:nvPr/>
        </p:nvSpPr>
        <p:spPr>
          <a:xfrm>
            <a:off x="8394700" y="4008566"/>
            <a:ext cx="27305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US" altLang="zh-CN" sz="2000" b="1">
                <a:solidFill>
                  <a:srgbClr val="1E6BE3"/>
                </a:solidFill>
                <a:latin typeface="Microsoft YaHei" panose="020B0503020204020204" pitchFamily="34" charset="-122"/>
              </a:rPr>
              <a:t>TE / S</a:t>
            </a:r>
            <a:r>
              <a:rPr lang="zh-CN" altLang="en-US" sz="2000" b="1">
                <a:solidFill>
                  <a:srgbClr val="1E6BE3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2000" b="1">
                <a:solidFill>
                  <a:srgbClr val="1E6BE3"/>
                </a:solidFill>
                <a:latin typeface="Microsoft YaHei" panose="020B0503020204020204" pitchFamily="34" charset="-122"/>
              </a:rPr>
              <a:t>90°</a:t>
            </a:r>
            <a:endParaRPr lang="zh-CN" altLang="en-US" sz="2000" b="1">
              <a:solidFill>
                <a:srgbClr val="1E6BE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D975B4D-86BC-C8CF-7590-ACBEEB1F891C}"/>
              </a:ext>
            </a:extLst>
          </p:cNvPr>
          <p:cNvSpPr/>
          <p:nvPr/>
        </p:nvSpPr>
        <p:spPr>
          <a:xfrm>
            <a:off x="609600" y="4902200"/>
            <a:ext cx="52070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E9FAA84-52F2-A1A2-821E-7E5AE2675C8F}"/>
              </a:ext>
            </a:extLst>
          </p:cNvPr>
          <p:cNvSpPr txBox="1"/>
          <p:nvPr/>
        </p:nvSpPr>
        <p:spPr>
          <a:xfrm>
            <a:off x="838200" y="5049966"/>
            <a:ext cx="1905000" cy="184666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200" b="1">
                <a:solidFill>
                  <a:srgbClr val="556070"/>
                </a:solidFill>
                <a:latin typeface="Microsoft YaHei" panose="020B0503020204020204" pitchFamily="34" charset="-122"/>
              </a:rPr>
              <a:t>精细网格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E8F8F36-95A2-02B6-C014-2E5769D0BE38}"/>
              </a:ext>
            </a:extLst>
          </p:cNvPr>
          <p:cNvSpPr txBox="1"/>
          <p:nvPr/>
        </p:nvSpPr>
        <p:spPr>
          <a:xfrm>
            <a:off x="2832100" y="5049966"/>
            <a:ext cx="27305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US" altLang="zh-CN" sz="2000" b="1">
                <a:solidFill>
                  <a:srgbClr val="1E6BE3"/>
                </a:solidFill>
                <a:latin typeface="Microsoft YaHei" panose="020B0503020204020204" pitchFamily="34" charset="-122"/>
              </a:rPr>
              <a:t>dx = dy = 1 nm</a:t>
            </a:r>
            <a:endParaRPr lang="zh-CN" altLang="en-US" sz="2000" b="1">
              <a:solidFill>
                <a:srgbClr val="1E6BE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2D64782-D7FF-7769-41E5-148E563EA208}"/>
              </a:ext>
            </a:extLst>
          </p:cNvPr>
          <p:cNvSpPr/>
          <p:nvPr/>
        </p:nvSpPr>
        <p:spPr>
          <a:xfrm>
            <a:off x="6172200" y="4902200"/>
            <a:ext cx="52070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E14B0D3-B296-5483-87F3-DA53F9F32940}"/>
              </a:ext>
            </a:extLst>
          </p:cNvPr>
          <p:cNvSpPr txBox="1"/>
          <p:nvPr/>
        </p:nvSpPr>
        <p:spPr>
          <a:xfrm>
            <a:off x="6400800" y="5049966"/>
            <a:ext cx="1905000" cy="184666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CN" sz="1200" b="1">
                <a:solidFill>
                  <a:srgbClr val="556070"/>
                </a:solidFill>
                <a:latin typeface="Microsoft YaHei" panose="020B0503020204020204" pitchFamily="34" charset="-122"/>
              </a:rPr>
              <a:t>+1 </a:t>
            </a:r>
            <a:r>
              <a:rPr lang="zh-CN" altLang="en-US" sz="1200" b="1">
                <a:solidFill>
                  <a:srgbClr val="556070"/>
                </a:solidFill>
                <a:latin typeface="Microsoft YaHei" panose="020B0503020204020204" pitchFamily="34" charset="-122"/>
              </a:rPr>
              <a:t>级输出角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C30EAC3-8B3C-ADBA-57D2-908A564CC855}"/>
              </a:ext>
            </a:extLst>
          </p:cNvPr>
          <p:cNvSpPr txBox="1"/>
          <p:nvPr/>
        </p:nvSpPr>
        <p:spPr>
          <a:xfrm>
            <a:off x="8394700" y="5049966"/>
            <a:ext cx="27305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zh-CN" altLang="en-US" sz="2000" b="1">
                <a:solidFill>
                  <a:srgbClr val="1E6BE3"/>
                </a:solidFill>
                <a:latin typeface="Microsoft YaHei" panose="020B0503020204020204" pitchFamily="34" charset="-122"/>
              </a:rPr>
              <a:t>约 </a:t>
            </a:r>
            <a:r>
              <a:rPr lang="en-US" altLang="zh-CN" sz="2000" b="1">
                <a:solidFill>
                  <a:srgbClr val="1E6BE3"/>
                </a:solidFill>
                <a:latin typeface="Microsoft YaHei" panose="020B0503020204020204" pitchFamily="34" charset="-122"/>
              </a:rPr>
              <a:t>65.6°</a:t>
            </a:r>
            <a:endParaRPr lang="zh-CN" altLang="en-US" sz="2000" b="1">
              <a:solidFill>
                <a:srgbClr val="1E6BE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5B5E74B-793E-D0C6-6DF4-3D10829599C4}"/>
              </a:ext>
            </a:extLst>
          </p:cNvPr>
          <p:cNvSpPr txBox="1"/>
          <p:nvPr/>
        </p:nvSpPr>
        <p:spPr>
          <a:xfrm>
            <a:off x="609600" y="6116766"/>
            <a:ext cx="10414000" cy="184666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200">
                <a:solidFill>
                  <a:srgbClr val="556070"/>
                </a:solidFill>
                <a:latin typeface="Microsoft YaHei" panose="020B0503020204020204" pitchFamily="34" charset="-122"/>
              </a:rPr>
              <a:t>最终模型：</a:t>
            </a:r>
            <a:r>
              <a:rPr lang="en-US" altLang="zh-CN" sz="1200">
                <a:solidFill>
                  <a:srgbClr val="556070"/>
                </a:solidFill>
                <a:latin typeface="Microsoft YaHei" panose="020B0503020204020204" pitchFamily="34" charset="-122"/>
              </a:rPr>
              <a:t>grating_TE_optimized_532nm_duty65_height160nm_angle15deg.fsp</a:t>
            </a:r>
            <a:endParaRPr lang="zh-CN" altLang="en-US" sz="12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426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D122413-34E5-5B7E-DA43-A1C9FF809433}"/>
              </a:ext>
            </a:extLst>
          </p:cNvPr>
          <p:cNvSpPr txBox="1"/>
          <p:nvPr/>
        </p:nvSpPr>
        <p:spPr>
          <a:xfrm>
            <a:off x="609600" y="376366"/>
            <a:ext cx="4572000" cy="1692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CN" sz="1100" b="1">
                <a:solidFill>
                  <a:srgbClr val="1E6BE3"/>
                </a:solidFill>
                <a:latin typeface="Microsoft YaHei" panose="020B0503020204020204" pitchFamily="34" charset="-122"/>
              </a:rPr>
              <a:t>08 </a:t>
            </a:r>
            <a:r>
              <a:rPr lang="zh-CN" altLang="en-US" sz="1100" b="1">
                <a:solidFill>
                  <a:srgbClr val="1E6BE3"/>
                </a:solidFill>
                <a:latin typeface="Microsoft YaHei" panose="020B0503020204020204" pitchFamily="34" charset="-122"/>
              </a:rPr>
              <a:t>数值可信度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70F49E-3D0F-A7DD-AAFF-BD9CE66393E9}"/>
              </a:ext>
            </a:extLst>
          </p:cNvPr>
          <p:cNvSpPr txBox="1"/>
          <p:nvPr/>
        </p:nvSpPr>
        <p:spPr>
          <a:xfrm>
            <a:off x="609600" y="706566"/>
            <a:ext cx="10972800" cy="41549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网格从 </a:t>
            </a:r>
            <a:r>
              <a:rPr lang="en-US" altLang="zh-CN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4 nm </a:t>
            </a:r>
            <a:r>
              <a:rPr lang="zh-CN" altLang="en-US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加密到 </a:t>
            </a:r>
            <a:r>
              <a:rPr lang="en-US" altLang="zh-CN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1 nm</a:t>
            </a:r>
            <a:r>
              <a:rPr lang="zh-CN" altLang="en-US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，效率已经收敛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038F2E-DBBD-A328-2FC3-67DF89794BBB}"/>
              </a:ext>
            </a:extLst>
          </p:cNvPr>
          <p:cNvSpPr/>
          <p:nvPr/>
        </p:nvSpPr>
        <p:spPr>
          <a:xfrm>
            <a:off x="609600" y="1422400"/>
            <a:ext cx="10972800" cy="12700"/>
          </a:xfrm>
          <a:prstGeom prst="rect">
            <a:avLst/>
          </a:prstGeom>
          <a:solidFill>
            <a:srgbClr val="D7DEE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697B8F-7417-D4C5-EADC-E52C9ACB0BDF}"/>
              </a:ext>
            </a:extLst>
          </p:cNvPr>
          <p:cNvSpPr txBox="1"/>
          <p:nvPr/>
        </p:nvSpPr>
        <p:spPr>
          <a:xfrm>
            <a:off x="11112500" y="6370766"/>
            <a:ext cx="4572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556070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1000" b="1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7D9CEE-20DD-FC38-D350-744FA62484F4}"/>
              </a:ext>
            </a:extLst>
          </p:cNvPr>
          <p:cNvSpPr txBox="1"/>
          <p:nvPr/>
        </p:nvSpPr>
        <p:spPr>
          <a:xfrm>
            <a:off x="1143000" y="2078166"/>
            <a:ext cx="2032000" cy="230832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556070"/>
                </a:solidFill>
                <a:latin typeface="Microsoft YaHei" panose="020B0503020204020204" pitchFamily="34" charset="-122"/>
              </a:rPr>
              <a:t>4 nm</a:t>
            </a:r>
            <a:endParaRPr lang="zh-CN" altLang="en-US" sz="1500" b="1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88E454-B0A5-3B80-E63A-849AF0DE9CE2}"/>
              </a:ext>
            </a:extLst>
          </p:cNvPr>
          <p:cNvSpPr/>
          <p:nvPr/>
        </p:nvSpPr>
        <p:spPr>
          <a:xfrm>
            <a:off x="1143000" y="2302154"/>
            <a:ext cx="2032000" cy="1507846"/>
          </a:xfrm>
          <a:prstGeom prst="rect">
            <a:avLst/>
          </a:prstGeom>
          <a:solidFill>
            <a:srgbClr val="25BC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024EF7-95EC-C0C8-D298-CFBC89E0FAF9}"/>
              </a:ext>
            </a:extLst>
          </p:cNvPr>
          <p:cNvSpPr txBox="1"/>
          <p:nvPr/>
        </p:nvSpPr>
        <p:spPr>
          <a:xfrm>
            <a:off x="1143000" y="4110166"/>
            <a:ext cx="2032000" cy="33855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2200" b="1">
                <a:solidFill>
                  <a:srgbClr val="0B1220"/>
                </a:solidFill>
                <a:latin typeface="Microsoft YaHei" panose="020B0503020204020204" pitchFamily="34" charset="-122"/>
              </a:rPr>
              <a:t>9.894%</a:t>
            </a:r>
            <a:endParaRPr lang="zh-CN" altLang="en-US" sz="22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39B83C-20EE-83E3-022C-A4962E651373}"/>
              </a:ext>
            </a:extLst>
          </p:cNvPr>
          <p:cNvSpPr txBox="1"/>
          <p:nvPr/>
        </p:nvSpPr>
        <p:spPr>
          <a:xfrm>
            <a:off x="4572000" y="2078166"/>
            <a:ext cx="2032000" cy="230832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556070"/>
                </a:solidFill>
                <a:latin typeface="Microsoft YaHei" panose="020B0503020204020204" pitchFamily="34" charset="-122"/>
              </a:rPr>
              <a:t>2 nm</a:t>
            </a:r>
            <a:endParaRPr lang="zh-CN" altLang="en-US" sz="1500" b="1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DC3FC2-98F6-C15D-C113-550D55E6A568}"/>
              </a:ext>
            </a:extLst>
          </p:cNvPr>
          <p:cNvSpPr/>
          <p:nvPr/>
        </p:nvSpPr>
        <p:spPr>
          <a:xfrm>
            <a:off x="4572000" y="2302154"/>
            <a:ext cx="2032000" cy="1507846"/>
          </a:xfrm>
          <a:prstGeom prst="rect">
            <a:avLst/>
          </a:prstGeom>
          <a:solidFill>
            <a:srgbClr val="25BC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CCD481-7E77-0A52-A68B-E7DDE060232B}"/>
              </a:ext>
            </a:extLst>
          </p:cNvPr>
          <p:cNvSpPr txBox="1"/>
          <p:nvPr/>
        </p:nvSpPr>
        <p:spPr>
          <a:xfrm>
            <a:off x="4572000" y="4110166"/>
            <a:ext cx="2032000" cy="33855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2200" b="1">
                <a:solidFill>
                  <a:srgbClr val="0B1220"/>
                </a:solidFill>
                <a:latin typeface="Microsoft YaHei" panose="020B0503020204020204" pitchFamily="34" charset="-122"/>
              </a:rPr>
              <a:t>9.894%</a:t>
            </a:r>
            <a:endParaRPr lang="zh-CN" altLang="en-US" sz="22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7A326EE-446E-5A30-0B75-0C59A10A015D}"/>
              </a:ext>
            </a:extLst>
          </p:cNvPr>
          <p:cNvSpPr txBox="1"/>
          <p:nvPr/>
        </p:nvSpPr>
        <p:spPr>
          <a:xfrm>
            <a:off x="8001000" y="2078166"/>
            <a:ext cx="2032000" cy="230832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556070"/>
                </a:solidFill>
                <a:latin typeface="Microsoft YaHei" panose="020B0503020204020204" pitchFamily="34" charset="-122"/>
              </a:rPr>
              <a:t>1 nm</a:t>
            </a:r>
            <a:endParaRPr lang="zh-CN" altLang="en-US" sz="1500" b="1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5BB01A-9A3D-75A0-AE64-CA58FBA8260B}"/>
              </a:ext>
            </a:extLst>
          </p:cNvPr>
          <p:cNvSpPr/>
          <p:nvPr/>
        </p:nvSpPr>
        <p:spPr>
          <a:xfrm>
            <a:off x="8001000" y="2296668"/>
            <a:ext cx="2032000" cy="1513332"/>
          </a:xfrm>
          <a:prstGeom prst="rect">
            <a:avLst/>
          </a:prstGeom>
          <a:solidFill>
            <a:srgbClr val="1E6BE3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6A468EA-7F35-0C54-3258-DA6853F6E60C}"/>
              </a:ext>
            </a:extLst>
          </p:cNvPr>
          <p:cNvSpPr txBox="1"/>
          <p:nvPr/>
        </p:nvSpPr>
        <p:spPr>
          <a:xfrm>
            <a:off x="8001000" y="4110166"/>
            <a:ext cx="2032000" cy="33855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2200" b="1">
                <a:solidFill>
                  <a:srgbClr val="0B1220"/>
                </a:solidFill>
                <a:latin typeface="Microsoft YaHei" panose="020B0503020204020204" pitchFamily="34" charset="-122"/>
              </a:rPr>
              <a:t>9.930%</a:t>
            </a:r>
            <a:endParaRPr lang="zh-CN" altLang="en-US" sz="22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30757BC-6939-5AB7-A4D9-6C944198B353}"/>
              </a:ext>
            </a:extLst>
          </p:cNvPr>
          <p:cNvSpPr/>
          <p:nvPr/>
        </p:nvSpPr>
        <p:spPr>
          <a:xfrm>
            <a:off x="1397000" y="5080000"/>
            <a:ext cx="9398000" cy="838200"/>
          </a:xfrm>
          <a:prstGeom prst="roundRect">
            <a:avLst/>
          </a:prstGeom>
          <a:solidFill>
            <a:srgbClr val="F0F8FF"/>
          </a:solidFill>
          <a:ln>
            <a:solidFill>
              <a:srgbClr val="CAE1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2D78ACA-E006-B755-5C09-898794EB0BAC}"/>
              </a:ext>
            </a:extLst>
          </p:cNvPr>
          <p:cNvSpPr txBox="1"/>
          <p:nvPr/>
        </p:nvSpPr>
        <p:spPr>
          <a:xfrm>
            <a:off x="1714500" y="5303966"/>
            <a:ext cx="8763000" cy="2769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b="1">
                <a:solidFill>
                  <a:srgbClr val="0B1220"/>
                </a:solidFill>
                <a:latin typeface="Microsoft YaHei" panose="020B0503020204020204" pitchFamily="34" charset="-122"/>
              </a:rPr>
              <a:t>2 nm → 1 nm </a:t>
            </a:r>
            <a:r>
              <a:rPr lang="zh-CN" altLang="en-US" b="1">
                <a:solidFill>
                  <a:srgbClr val="0B1220"/>
                </a:solidFill>
                <a:latin typeface="Microsoft YaHei" panose="020B0503020204020204" pitchFamily="34" charset="-122"/>
              </a:rPr>
              <a:t>相对变化仅 </a:t>
            </a:r>
            <a:r>
              <a:rPr lang="en-US" altLang="zh-CN" b="1">
                <a:solidFill>
                  <a:srgbClr val="0B1220"/>
                </a:solidFill>
                <a:latin typeface="Microsoft YaHei" panose="020B0503020204020204" pitchFamily="34" charset="-122"/>
              </a:rPr>
              <a:t>0.369%</a:t>
            </a:r>
            <a:r>
              <a:rPr lang="zh-CN" altLang="en-US" b="1">
                <a:solidFill>
                  <a:srgbClr val="0B1220"/>
                </a:solidFill>
                <a:latin typeface="Microsoft YaHei" panose="020B0503020204020204" pitchFamily="34" charset="-122"/>
              </a:rPr>
              <a:t>；能量和约 </a:t>
            </a:r>
            <a:r>
              <a:rPr lang="en-US" altLang="zh-CN" b="1">
                <a:solidFill>
                  <a:srgbClr val="0B1220"/>
                </a:solidFill>
                <a:latin typeface="Microsoft YaHei" panose="020B0503020204020204" pitchFamily="34" charset="-122"/>
              </a:rPr>
              <a:t>99.95%</a:t>
            </a:r>
            <a:r>
              <a:rPr lang="zh-CN" altLang="en-US" b="1">
                <a:solidFill>
                  <a:srgbClr val="0B1220"/>
                </a:solidFill>
                <a:latin typeface="Microsoft YaHei" panose="020B0503020204020204" pitchFamily="34" charset="-122"/>
              </a:rPr>
              <a:t>，网格验证通过。</a:t>
            </a:r>
          </a:p>
        </p:txBody>
      </p:sp>
    </p:spTree>
    <p:extLst>
      <p:ext uri="{BB962C8B-B14F-4D97-AF65-F5344CB8AC3E}">
        <p14:creationId xmlns:p14="http://schemas.microsoft.com/office/powerpoint/2010/main" val="2919355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ED89347-436B-1CCB-362D-CAF4CF2ECAEA}"/>
              </a:ext>
            </a:extLst>
          </p:cNvPr>
          <p:cNvSpPr txBox="1"/>
          <p:nvPr/>
        </p:nvSpPr>
        <p:spPr>
          <a:xfrm>
            <a:off x="609600" y="376366"/>
            <a:ext cx="4572000" cy="1692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CN" sz="1100" b="1">
                <a:solidFill>
                  <a:srgbClr val="1E6BE3"/>
                </a:solidFill>
                <a:latin typeface="Microsoft YaHei" panose="020B0503020204020204" pitchFamily="34" charset="-122"/>
              </a:rPr>
              <a:t>09 </a:t>
            </a:r>
            <a:r>
              <a:rPr lang="zh-CN" altLang="en-US" sz="1100" b="1">
                <a:solidFill>
                  <a:srgbClr val="1E6BE3"/>
                </a:solidFill>
                <a:latin typeface="Microsoft YaHei" panose="020B0503020204020204" pitchFamily="34" charset="-122"/>
              </a:rPr>
              <a:t>视场验证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1B1264-C3EC-9B7E-C154-71773769C17E}"/>
              </a:ext>
            </a:extLst>
          </p:cNvPr>
          <p:cNvSpPr txBox="1"/>
          <p:nvPr/>
        </p:nvSpPr>
        <p:spPr>
          <a:xfrm>
            <a:off x="609600" y="706566"/>
            <a:ext cx="10972800" cy="41549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入射角增大时，</a:t>
            </a:r>
            <a:r>
              <a:rPr lang="en-US" altLang="zh-CN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+1 </a:t>
            </a:r>
            <a:r>
              <a:rPr lang="zh-CN" altLang="en-US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级效率下降并在 </a:t>
            </a:r>
            <a:r>
              <a:rPr lang="en-US" altLang="zh-CN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25° </a:t>
            </a:r>
            <a:r>
              <a:rPr lang="zh-CN" altLang="en-US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附近截止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BFD81A-336E-6FBA-0E65-7B4D8670A57F}"/>
              </a:ext>
            </a:extLst>
          </p:cNvPr>
          <p:cNvSpPr/>
          <p:nvPr/>
        </p:nvSpPr>
        <p:spPr>
          <a:xfrm>
            <a:off x="609600" y="1422400"/>
            <a:ext cx="10972800" cy="12700"/>
          </a:xfrm>
          <a:prstGeom prst="rect">
            <a:avLst/>
          </a:prstGeom>
          <a:solidFill>
            <a:srgbClr val="D7DEE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9AFF65-7EFD-917B-19B3-F2AAA8D367F5}"/>
              </a:ext>
            </a:extLst>
          </p:cNvPr>
          <p:cNvSpPr txBox="1"/>
          <p:nvPr/>
        </p:nvSpPr>
        <p:spPr>
          <a:xfrm>
            <a:off x="11112500" y="6370766"/>
            <a:ext cx="4572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556070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1000" b="1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13DE052-3954-D441-BA64-2A433778ADBF}"/>
              </a:ext>
            </a:extLst>
          </p:cNvPr>
          <p:cNvSpPr/>
          <p:nvPr/>
        </p:nvSpPr>
        <p:spPr>
          <a:xfrm>
            <a:off x="838200" y="2027428"/>
            <a:ext cx="101600" cy="101600"/>
          </a:xfrm>
          <a:prstGeom prst="ellipse">
            <a:avLst/>
          </a:prstGeom>
          <a:solidFill>
            <a:srgbClr val="1E6BE3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BF005F-017C-5594-556D-A02A4AA24E26}"/>
              </a:ext>
            </a:extLst>
          </p:cNvPr>
          <p:cNvSpPr txBox="1"/>
          <p:nvPr/>
        </p:nvSpPr>
        <p:spPr>
          <a:xfrm>
            <a:off x="660400" y="5634166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0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554BFA4-5692-4A7E-7401-D6C0542EABFB}"/>
              </a:ext>
            </a:extLst>
          </p:cNvPr>
          <p:cNvCxnSpPr/>
          <p:nvPr/>
        </p:nvCxnSpPr>
        <p:spPr>
          <a:xfrm>
            <a:off x="889000" y="2078228"/>
            <a:ext cx="749300" cy="108890"/>
          </a:xfrm>
          <a:prstGeom prst="line">
            <a:avLst/>
          </a:prstGeom>
          <a:ln w="31750">
            <a:solidFill>
              <a:srgbClr val="1E6B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30AEC3A9-2FF7-6743-F4DF-802CF0832966}"/>
              </a:ext>
            </a:extLst>
          </p:cNvPr>
          <p:cNvSpPr/>
          <p:nvPr/>
        </p:nvSpPr>
        <p:spPr>
          <a:xfrm>
            <a:off x="1587500" y="2136318"/>
            <a:ext cx="101600" cy="101600"/>
          </a:xfrm>
          <a:prstGeom prst="ellipse">
            <a:avLst/>
          </a:prstGeom>
          <a:solidFill>
            <a:srgbClr val="1E6BE3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91BAAB3-2B5D-6134-5D8A-CE1719C9A61C}"/>
              </a:ext>
            </a:extLst>
          </p:cNvPr>
          <p:cNvSpPr txBox="1"/>
          <p:nvPr/>
        </p:nvSpPr>
        <p:spPr>
          <a:xfrm>
            <a:off x="1409700" y="5634166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2.5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BFB794D-3B08-B187-6D3F-A7FFCEC2E8F2}"/>
              </a:ext>
            </a:extLst>
          </p:cNvPr>
          <p:cNvCxnSpPr/>
          <p:nvPr/>
        </p:nvCxnSpPr>
        <p:spPr>
          <a:xfrm>
            <a:off x="1638300" y="2187118"/>
            <a:ext cx="749300" cy="85649"/>
          </a:xfrm>
          <a:prstGeom prst="line">
            <a:avLst/>
          </a:prstGeom>
          <a:ln w="31750">
            <a:solidFill>
              <a:srgbClr val="1E6B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0DC00B0F-B2F4-CC00-9F4C-E3DACCE10B19}"/>
              </a:ext>
            </a:extLst>
          </p:cNvPr>
          <p:cNvSpPr/>
          <p:nvPr/>
        </p:nvSpPr>
        <p:spPr>
          <a:xfrm>
            <a:off x="2336800" y="2221967"/>
            <a:ext cx="101600" cy="101600"/>
          </a:xfrm>
          <a:prstGeom prst="ellipse">
            <a:avLst/>
          </a:prstGeom>
          <a:solidFill>
            <a:srgbClr val="1E6BE3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807559-E775-F132-67F4-6965829E1608}"/>
              </a:ext>
            </a:extLst>
          </p:cNvPr>
          <p:cNvSpPr txBox="1"/>
          <p:nvPr/>
        </p:nvSpPr>
        <p:spPr>
          <a:xfrm>
            <a:off x="2159000" y="5634166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5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D1C6498-F1BA-B099-6A21-E651132A0634}"/>
              </a:ext>
            </a:extLst>
          </p:cNvPr>
          <p:cNvCxnSpPr/>
          <p:nvPr/>
        </p:nvCxnSpPr>
        <p:spPr>
          <a:xfrm>
            <a:off x="2387600" y="2272767"/>
            <a:ext cx="749300" cy="97637"/>
          </a:xfrm>
          <a:prstGeom prst="line">
            <a:avLst/>
          </a:prstGeom>
          <a:ln w="31750">
            <a:solidFill>
              <a:srgbClr val="1E6B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AD23F189-7888-1433-D4A4-56C52E039891}"/>
              </a:ext>
            </a:extLst>
          </p:cNvPr>
          <p:cNvSpPr/>
          <p:nvPr/>
        </p:nvSpPr>
        <p:spPr>
          <a:xfrm>
            <a:off x="3086100" y="2319604"/>
            <a:ext cx="101600" cy="101600"/>
          </a:xfrm>
          <a:prstGeom prst="ellipse">
            <a:avLst/>
          </a:prstGeom>
          <a:solidFill>
            <a:srgbClr val="1E6BE3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268810B-0949-5BBE-ADCC-9E3E9150B163}"/>
              </a:ext>
            </a:extLst>
          </p:cNvPr>
          <p:cNvSpPr txBox="1"/>
          <p:nvPr/>
        </p:nvSpPr>
        <p:spPr>
          <a:xfrm>
            <a:off x="2908300" y="5634166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7.5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04302A3-7780-D775-A452-122EE58AC01A}"/>
              </a:ext>
            </a:extLst>
          </p:cNvPr>
          <p:cNvCxnSpPr/>
          <p:nvPr/>
        </p:nvCxnSpPr>
        <p:spPr>
          <a:xfrm>
            <a:off x="3136900" y="2370404"/>
            <a:ext cx="749300" cy="136957"/>
          </a:xfrm>
          <a:prstGeom prst="line">
            <a:avLst/>
          </a:prstGeom>
          <a:ln w="31750">
            <a:solidFill>
              <a:srgbClr val="1E6B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14C353DB-1A97-BF8C-0C60-5561BE5146FD}"/>
              </a:ext>
            </a:extLst>
          </p:cNvPr>
          <p:cNvSpPr/>
          <p:nvPr/>
        </p:nvSpPr>
        <p:spPr>
          <a:xfrm>
            <a:off x="3835400" y="2456561"/>
            <a:ext cx="101600" cy="101600"/>
          </a:xfrm>
          <a:prstGeom prst="ellipse">
            <a:avLst/>
          </a:prstGeom>
          <a:solidFill>
            <a:srgbClr val="1E6BE3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3FB0736-67F0-F524-6F99-9AEA22F6D076}"/>
              </a:ext>
            </a:extLst>
          </p:cNvPr>
          <p:cNvSpPr txBox="1"/>
          <p:nvPr/>
        </p:nvSpPr>
        <p:spPr>
          <a:xfrm>
            <a:off x="3657600" y="5634166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1724A3D-507F-4926-2E33-9AC325590CBC}"/>
              </a:ext>
            </a:extLst>
          </p:cNvPr>
          <p:cNvCxnSpPr/>
          <p:nvPr/>
        </p:nvCxnSpPr>
        <p:spPr>
          <a:xfrm>
            <a:off x="3886200" y="2507361"/>
            <a:ext cx="749300" cy="190525"/>
          </a:xfrm>
          <a:prstGeom prst="line">
            <a:avLst/>
          </a:prstGeom>
          <a:ln w="31750">
            <a:solidFill>
              <a:srgbClr val="1E6B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0DDE57DE-C427-2457-9940-2353E4B49684}"/>
              </a:ext>
            </a:extLst>
          </p:cNvPr>
          <p:cNvSpPr/>
          <p:nvPr/>
        </p:nvSpPr>
        <p:spPr>
          <a:xfrm>
            <a:off x="4584700" y="2647086"/>
            <a:ext cx="101600" cy="101600"/>
          </a:xfrm>
          <a:prstGeom prst="ellipse">
            <a:avLst/>
          </a:prstGeom>
          <a:solidFill>
            <a:srgbClr val="1E6BE3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167C43F-9D5A-7006-4AC1-0D796A939A1D}"/>
              </a:ext>
            </a:extLst>
          </p:cNvPr>
          <p:cNvSpPr txBox="1"/>
          <p:nvPr/>
        </p:nvSpPr>
        <p:spPr>
          <a:xfrm>
            <a:off x="4406900" y="5634166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12.5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0E8C430-06E9-344A-1B14-C9CB222DB9C4}"/>
              </a:ext>
            </a:extLst>
          </p:cNvPr>
          <p:cNvCxnSpPr/>
          <p:nvPr/>
        </p:nvCxnSpPr>
        <p:spPr>
          <a:xfrm>
            <a:off x="4635500" y="2697886"/>
            <a:ext cx="749300" cy="249980"/>
          </a:xfrm>
          <a:prstGeom prst="line">
            <a:avLst/>
          </a:prstGeom>
          <a:ln w="31750">
            <a:solidFill>
              <a:srgbClr val="1E6B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18E78FBF-028F-BF42-FA71-8044492A45D6}"/>
              </a:ext>
            </a:extLst>
          </p:cNvPr>
          <p:cNvSpPr/>
          <p:nvPr/>
        </p:nvSpPr>
        <p:spPr>
          <a:xfrm>
            <a:off x="5334000" y="2897066"/>
            <a:ext cx="101600" cy="101600"/>
          </a:xfrm>
          <a:prstGeom prst="ellipse">
            <a:avLst/>
          </a:prstGeom>
          <a:solidFill>
            <a:srgbClr val="1E6BE3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B12A5F5-BA06-963D-FDCE-6F869A63C68C}"/>
              </a:ext>
            </a:extLst>
          </p:cNvPr>
          <p:cNvSpPr txBox="1"/>
          <p:nvPr/>
        </p:nvSpPr>
        <p:spPr>
          <a:xfrm>
            <a:off x="5156200" y="5634166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15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7E2FDFD-4453-2727-0AA7-DBAAADF0EDFA}"/>
              </a:ext>
            </a:extLst>
          </p:cNvPr>
          <p:cNvCxnSpPr/>
          <p:nvPr/>
        </p:nvCxnSpPr>
        <p:spPr>
          <a:xfrm>
            <a:off x="5384800" y="2947866"/>
            <a:ext cx="749300" cy="327225"/>
          </a:xfrm>
          <a:prstGeom prst="line">
            <a:avLst/>
          </a:prstGeom>
          <a:ln w="31750">
            <a:solidFill>
              <a:srgbClr val="1E6B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C30B9AC3-136E-F439-05DD-FE3C1FE939AF}"/>
              </a:ext>
            </a:extLst>
          </p:cNvPr>
          <p:cNvSpPr/>
          <p:nvPr/>
        </p:nvSpPr>
        <p:spPr>
          <a:xfrm>
            <a:off x="6083300" y="3224291"/>
            <a:ext cx="101600" cy="101600"/>
          </a:xfrm>
          <a:prstGeom prst="ellipse">
            <a:avLst/>
          </a:prstGeom>
          <a:solidFill>
            <a:srgbClr val="1E6BE3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FF54F17-8391-AF29-803E-1CAEE078799E}"/>
              </a:ext>
            </a:extLst>
          </p:cNvPr>
          <p:cNvSpPr txBox="1"/>
          <p:nvPr/>
        </p:nvSpPr>
        <p:spPr>
          <a:xfrm>
            <a:off x="5905500" y="5634166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17.5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CDDA2A7-0DF9-73C3-A14C-4562AE2424AC}"/>
              </a:ext>
            </a:extLst>
          </p:cNvPr>
          <p:cNvCxnSpPr/>
          <p:nvPr/>
        </p:nvCxnSpPr>
        <p:spPr>
          <a:xfrm>
            <a:off x="6134100" y="3275091"/>
            <a:ext cx="749300" cy="437452"/>
          </a:xfrm>
          <a:prstGeom prst="line">
            <a:avLst/>
          </a:prstGeom>
          <a:ln w="31750">
            <a:solidFill>
              <a:srgbClr val="1E6B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04A2CBBB-87FE-BD1F-E16F-DD421F25A727}"/>
              </a:ext>
            </a:extLst>
          </p:cNvPr>
          <p:cNvSpPr/>
          <p:nvPr/>
        </p:nvSpPr>
        <p:spPr>
          <a:xfrm>
            <a:off x="6832600" y="3661743"/>
            <a:ext cx="101600" cy="101600"/>
          </a:xfrm>
          <a:prstGeom prst="ellipse">
            <a:avLst/>
          </a:prstGeom>
          <a:solidFill>
            <a:srgbClr val="1E6BE3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E6FCF8D-61F6-673D-446B-1F98047DB040}"/>
              </a:ext>
            </a:extLst>
          </p:cNvPr>
          <p:cNvSpPr txBox="1"/>
          <p:nvPr/>
        </p:nvSpPr>
        <p:spPr>
          <a:xfrm>
            <a:off x="6654800" y="5634166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20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DEF69D21-3E84-F1FE-0C27-62EB9E4BC11B}"/>
              </a:ext>
            </a:extLst>
          </p:cNvPr>
          <p:cNvCxnSpPr/>
          <p:nvPr/>
        </p:nvCxnSpPr>
        <p:spPr>
          <a:xfrm>
            <a:off x="6883400" y="3712543"/>
            <a:ext cx="749300" cy="509890"/>
          </a:xfrm>
          <a:prstGeom prst="line">
            <a:avLst/>
          </a:prstGeom>
          <a:ln w="31750">
            <a:solidFill>
              <a:srgbClr val="1E6B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8F608575-336B-8B91-06C0-BEB54CAF2517}"/>
              </a:ext>
            </a:extLst>
          </p:cNvPr>
          <p:cNvSpPr/>
          <p:nvPr/>
        </p:nvSpPr>
        <p:spPr>
          <a:xfrm>
            <a:off x="7581900" y="4171633"/>
            <a:ext cx="101600" cy="101600"/>
          </a:xfrm>
          <a:prstGeom prst="ellipse">
            <a:avLst/>
          </a:prstGeom>
          <a:solidFill>
            <a:srgbClr val="1E6BE3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ACFB4C1-A003-77AC-FC89-F554345E88DF}"/>
              </a:ext>
            </a:extLst>
          </p:cNvPr>
          <p:cNvSpPr txBox="1"/>
          <p:nvPr/>
        </p:nvSpPr>
        <p:spPr>
          <a:xfrm>
            <a:off x="7404100" y="5634166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22.5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F81F9F2-B0EB-9DF6-4A30-C042F14A67E6}"/>
              </a:ext>
            </a:extLst>
          </p:cNvPr>
          <p:cNvCxnSpPr/>
          <p:nvPr/>
        </p:nvCxnSpPr>
        <p:spPr>
          <a:xfrm>
            <a:off x="7632700" y="4222433"/>
            <a:ext cx="749300" cy="1238567"/>
          </a:xfrm>
          <a:prstGeom prst="line">
            <a:avLst/>
          </a:prstGeom>
          <a:ln w="31750">
            <a:solidFill>
              <a:srgbClr val="1E6B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35">
            <a:extLst>
              <a:ext uri="{FF2B5EF4-FFF2-40B4-BE49-F238E27FC236}">
                <a16:creationId xmlns:a16="http://schemas.microsoft.com/office/drawing/2014/main" id="{2FDCD943-A8ED-0031-ED98-C086722FD430}"/>
              </a:ext>
            </a:extLst>
          </p:cNvPr>
          <p:cNvSpPr/>
          <p:nvPr/>
        </p:nvSpPr>
        <p:spPr>
          <a:xfrm>
            <a:off x="8331200" y="5410200"/>
            <a:ext cx="101600" cy="101600"/>
          </a:xfrm>
          <a:prstGeom prst="ellipse">
            <a:avLst/>
          </a:prstGeom>
          <a:solidFill>
            <a:srgbClr val="1E6BE3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3E59AB7-E4CA-4A32-58D7-367A1D83C0F4}"/>
              </a:ext>
            </a:extLst>
          </p:cNvPr>
          <p:cNvSpPr txBox="1"/>
          <p:nvPr/>
        </p:nvSpPr>
        <p:spPr>
          <a:xfrm>
            <a:off x="8153400" y="5634166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25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340F1BA-F41F-616D-E458-393F94F3C43A}"/>
              </a:ext>
            </a:extLst>
          </p:cNvPr>
          <p:cNvSpPr txBox="1"/>
          <p:nvPr/>
        </p:nvSpPr>
        <p:spPr>
          <a:xfrm>
            <a:off x="3429000" y="5964366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556070"/>
                </a:solidFill>
                <a:latin typeface="Microsoft YaHei" panose="020B0503020204020204" pitchFamily="34" charset="-122"/>
              </a:rPr>
              <a:t>入射角 </a:t>
            </a:r>
            <a:r>
              <a:rPr lang="en-US" altLang="zh-CN" sz="1100" b="1">
                <a:solidFill>
                  <a:srgbClr val="556070"/>
                </a:solidFill>
                <a:latin typeface="Microsoft YaHei" panose="020B0503020204020204" pitchFamily="34" charset="-122"/>
              </a:rPr>
              <a:t>(°)</a:t>
            </a:r>
            <a:endParaRPr lang="zh-CN" altLang="en-US" sz="1100" b="1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E8577CE-2E0C-CFAD-138A-41D92BB5FD0B}"/>
              </a:ext>
            </a:extLst>
          </p:cNvPr>
          <p:cNvSpPr/>
          <p:nvPr/>
        </p:nvSpPr>
        <p:spPr>
          <a:xfrm>
            <a:off x="8890000" y="2095500"/>
            <a:ext cx="2603500" cy="26670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8FFE4A8-7C55-F149-41A8-4896E9CAF3AD}"/>
              </a:ext>
            </a:extLst>
          </p:cNvPr>
          <p:cNvSpPr txBox="1"/>
          <p:nvPr/>
        </p:nvSpPr>
        <p:spPr>
          <a:xfrm>
            <a:off x="9207500" y="2395666"/>
            <a:ext cx="1905000" cy="26161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700" b="1">
                <a:solidFill>
                  <a:srgbClr val="0B1220"/>
                </a:solidFill>
                <a:latin typeface="Microsoft YaHei" panose="020B0503020204020204" pitchFamily="34" charset="-122"/>
              </a:rPr>
              <a:t>关键读数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E583463-1C80-1BA2-7680-77751291AC03}"/>
              </a:ext>
            </a:extLst>
          </p:cNvPr>
          <p:cNvSpPr txBox="1"/>
          <p:nvPr/>
        </p:nvSpPr>
        <p:spPr>
          <a:xfrm>
            <a:off x="9207500" y="3030666"/>
            <a:ext cx="1968500" cy="98488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CN" sz="1600" b="1">
                <a:solidFill>
                  <a:srgbClr val="1E6BE3"/>
                </a:solidFill>
                <a:latin typeface="Microsoft YaHei" panose="020B0503020204020204" pitchFamily="34" charset="-122"/>
              </a:rPr>
              <a:t>0°</a:t>
            </a:r>
            <a:r>
              <a:rPr lang="zh-CN" altLang="en-US" sz="1600" b="1">
                <a:solidFill>
                  <a:srgbClr val="1E6BE3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600" b="1">
                <a:solidFill>
                  <a:srgbClr val="1E6BE3"/>
                </a:solidFill>
                <a:latin typeface="Microsoft YaHei" panose="020B0503020204020204" pitchFamily="34" charset="-122"/>
              </a:rPr>
              <a:t>13.32%</a:t>
            </a:r>
          </a:p>
          <a:p>
            <a:r>
              <a:rPr lang="en-US" altLang="zh-CN" sz="1600" b="1">
                <a:solidFill>
                  <a:srgbClr val="1E6BE3"/>
                </a:solidFill>
                <a:latin typeface="Microsoft YaHei" panose="020B0503020204020204" pitchFamily="34" charset="-122"/>
              </a:rPr>
              <a:t>15°</a:t>
            </a:r>
            <a:r>
              <a:rPr lang="zh-CN" altLang="en-US" sz="1600" b="1">
                <a:solidFill>
                  <a:srgbClr val="1E6BE3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600" b="1">
                <a:solidFill>
                  <a:srgbClr val="1E6BE3"/>
                </a:solidFill>
                <a:latin typeface="Microsoft YaHei" panose="020B0503020204020204" pitchFamily="34" charset="-122"/>
              </a:rPr>
              <a:t>9.89%</a:t>
            </a:r>
          </a:p>
          <a:p>
            <a:r>
              <a:rPr lang="en-US" altLang="zh-CN" sz="1600" b="1">
                <a:solidFill>
                  <a:srgbClr val="1E6BE3"/>
                </a:solidFill>
                <a:latin typeface="Microsoft YaHei" panose="020B0503020204020204" pitchFamily="34" charset="-122"/>
              </a:rPr>
              <a:t>22.5°</a:t>
            </a:r>
            <a:r>
              <a:rPr lang="zh-CN" altLang="en-US" sz="1600" b="1">
                <a:solidFill>
                  <a:srgbClr val="1E6BE3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600" b="1">
                <a:solidFill>
                  <a:srgbClr val="1E6BE3"/>
                </a:solidFill>
                <a:latin typeface="Microsoft YaHei" panose="020B0503020204020204" pitchFamily="34" charset="-122"/>
              </a:rPr>
              <a:t>4.88%</a:t>
            </a:r>
          </a:p>
          <a:p>
            <a:r>
              <a:rPr lang="en-US" altLang="zh-CN" sz="1600" b="1">
                <a:solidFill>
                  <a:srgbClr val="1E6BE3"/>
                </a:solidFill>
                <a:latin typeface="Microsoft YaHei" panose="020B0503020204020204" pitchFamily="34" charset="-122"/>
              </a:rPr>
              <a:t>25°</a:t>
            </a:r>
            <a:r>
              <a:rPr lang="zh-CN" altLang="en-US" sz="1600" b="1">
                <a:solidFill>
                  <a:srgbClr val="1E6BE3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600" b="1">
                <a:solidFill>
                  <a:srgbClr val="1E6BE3"/>
                </a:solidFill>
                <a:latin typeface="Microsoft YaHei" panose="020B0503020204020204" pitchFamily="34" charset="-122"/>
              </a:rPr>
              <a:t>+1 </a:t>
            </a:r>
            <a:r>
              <a:rPr lang="zh-CN" altLang="en-US" sz="1600" b="1">
                <a:solidFill>
                  <a:srgbClr val="1E6BE3"/>
                </a:solidFill>
                <a:latin typeface="Microsoft YaHei" panose="020B0503020204020204" pitchFamily="34" charset="-122"/>
              </a:rPr>
              <a:t>级截止</a:t>
            </a:r>
          </a:p>
        </p:txBody>
      </p:sp>
    </p:spTree>
    <p:extLst>
      <p:ext uri="{BB962C8B-B14F-4D97-AF65-F5344CB8AC3E}">
        <p14:creationId xmlns:p14="http://schemas.microsoft.com/office/powerpoint/2010/main" val="3451926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05438DE-FEAC-A082-DE27-3206A9303D79}"/>
              </a:ext>
            </a:extLst>
          </p:cNvPr>
          <p:cNvSpPr txBox="1"/>
          <p:nvPr/>
        </p:nvSpPr>
        <p:spPr>
          <a:xfrm>
            <a:off x="609600" y="376366"/>
            <a:ext cx="4572000" cy="1692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CN" sz="1100" b="1">
                <a:solidFill>
                  <a:srgbClr val="1E6BE3"/>
                </a:solidFill>
                <a:latin typeface="Microsoft YaHei" panose="020B0503020204020204" pitchFamily="34" charset="-122"/>
              </a:rPr>
              <a:t>10 </a:t>
            </a:r>
            <a:r>
              <a:rPr lang="zh-CN" altLang="en-US" sz="1100" b="1">
                <a:solidFill>
                  <a:srgbClr val="1E6BE3"/>
                </a:solidFill>
                <a:latin typeface="Microsoft YaHei" panose="020B0503020204020204" pitchFamily="34" charset="-122"/>
              </a:rPr>
              <a:t>加工容差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9DA018-ABF8-52F1-BE4E-465DB41E927F}"/>
              </a:ext>
            </a:extLst>
          </p:cNvPr>
          <p:cNvSpPr txBox="1"/>
          <p:nvPr/>
        </p:nvSpPr>
        <p:spPr>
          <a:xfrm>
            <a:off x="609600" y="706566"/>
            <a:ext cx="10972800" cy="41549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CN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±2% </a:t>
            </a:r>
            <a:r>
              <a:rPr lang="zh-CN" altLang="en-US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占空比与 </a:t>
            </a:r>
            <a:r>
              <a:rPr lang="en-US" altLang="zh-CN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±10 nm </a:t>
            </a:r>
            <a:r>
              <a:rPr lang="zh-CN" altLang="en-US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高度扰动，最差仅下降约 </a:t>
            </a:r>
            <a:r>
              <a:rPr lang="en-US" altLang="zh-CN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1.99%</a:t>
            </a:r>
            <a:endParaRPr lang="zh-CN" altLang="en-US" sz="27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E2C208-D43A-5230-7C57-B7F18F42A6BF}"/>
              </a:ext>
            </a:extLst>
          </p:cNvPr>
          <p:cNvSpPr/>
          <p:nvPr/>
        </p:nvSpPr>
        <p:spPr>
          <a:xfrm>
            <a:off x="609600" y="1422400"/>
            <a:ext cx="10972800" cy="12700"/>
          </a:xfrm>
          <a:prstGeom prst="rect">
            <a:avLst/>
          </a:prstGeom>
          <a:solidFill>
            <a:srgbClr val="D7DEE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892198-2CF6-9450-D9F7-B33C02C32D1F}"/>
              </a:ext>
            </a:extLst>
          </p:cNvPr>
          <p:cNvSpPr txBox="1"/>
          <p:nvPr/>
        </p:nvSpPr>
        <p:spPr>
          <a:xfrm>
            <a:off x="11112500" y="6370766"/>
            <a:ext cx="4572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556070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1000" b="1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C4429D-E1CB-6E04-1119-073FCD0B60F8}"/>
              </a:ext>
            </a:extLst>
          </p:cNvPr>
          <p:cNvSpPr txBox="1"/>
          <p:nvPr/>
        </p:nvSpPr>
        <p:spPr>
          <a:xfrm>
            <a:off x="3111500" y="1887666"/>
            <a:ext cx="1905000" cy="20005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1300" b="1">
                <a:solidFill>
                  <a:srgbClr val="556070"/>
                </a:solidFill>
                <a:latin typeface="Microsoft YaHei" panose="020B0503020204020204" pitchFamily="34" charset="-122"/>
              </a:rPr>
              <a:t>150 nm</a:t>
            </a:r>
            <a:endParaRPr lang="zh-CN" altLang="en-US" sz="1300" b="1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5F4E64-A16E-38E8-4BB5-640592DFACB3}"/>
              </a:ext>
            </a:extLst>
          </p:cNvPr>
          <p:cNvSpPr txBox="1"/>
          <p:nvPr/>
        </p:nvSpPr>
        <p:spPr>
          <a:xfrm>
            <a:off x="5397500" y="1887666"/>
            <a:ext cx="1905000" cy="20005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1300" b="1">
                <a:solidFill>
                  <a:srgbClr val="556070"/>
                </a:solidFill>
                <a:latin typeface="Microsoft YaHei" panose="020B0503020204020204" pitchFamily="34" charset="-122"/>
              </a:rPr>
              <a:t>160 nm</a:t>
            </a:r>
            <a:endParaRPr lang="zh-CN" altLang="en-US" sz="1300" b="1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0BC08F-CCF3-DA61-A73A-388B87EE9F1B}"/>
              </a:ext>
            </a:extLst>
          </p:cNvPr>
          <p:cNvSpPr txBox="1"/>
          <p:nvPr/>
        </p:nvSpPr>
        <p:spPr>
          <a:xfrm>
            <a:off x="7683500" y="1887666"/>
            <a:ext cx="1905000" cy="20005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1300" b="1">
                <a:solidFill>
                  <a:srgbClr val="556070"/>
                </a:solidFill>
                <a:latin typeface="Microsoft YaHei" panose="020B0503020204020204" pitchFamily="34" charset="-122"/>
              </a:rPr>
              <a:t>170 nm</a:t>
            </a:r>
            <a:endParaRPr lang="zh-CN" altLang="en-US" sz="1300" b="1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0186AB-3550-FB99-C9BE-0174799815FA}"/>
              </a:ext>
            </a:extLst>
          </p:cNvPr>
          <p:cNvSpPr txBox="1"/>
          <p:nvPr/>
        </p:nvSpPr>
        <p:spPr>
          <a:xfrm>
            <a:off x="1206500" y="2649666"/>
            <a:ext cx="1143000" cy="21544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1400" b="1">
                <a:solidFill>
                  <a:srgbClr val="556070"/>
                </a:solidFill>
                <a:latin typeface="Microsoft YaHei" panose="020B0503020204020204" pitchFamily="34" charset="-122"/>
              </a:rPr>
              <a:t>63%</a:t>
            </a:r>
            <a:endParaRPr lang="zh-CN" altLang="en-US" sz="1400" b="1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6F6DF4F-D706-5A2F-5B05-7DCB587533AD}"/>
              </a:ext>
            </a:extLst>
          </p:cNvPr>
          <p:cNvSpPr/>
          <p:nvPr/>
        </p:nvSpPr>
        <p:spPr>
          <a:xfrm>
            <a:off x="2794000" y="2413000"/>
            <a:ext cx="19685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738783F-1BEA-E7B9-DBC8-33C8E5605FD1}"/>
              </a:ext>
            </a:extLst>
          </p:cNvPr>
          <p:cNvSpPr txBox="1"/>
          <p:nvPr/>
        </p:nvSpPr>
        <p:spPr>
          <a:xfrm>
            <a:off x="2895600" y="2617400"/>
            <a:ext cx="1765300" cy="2769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b="1">
                <a:solidFill>
                  <a:srgbClr val="0B1220"/>
                </a:solidFill>
                <a:latin typeface="Microsoft YaHei" panose="020B0503020204020204" pitchFamily="34" charset="-122"/>
              </a:rPr>
              <a:t>9.713%</a:t>
            </a:r>
            <a:endParaRPr lang="zh-CN" altLang="en-US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2955429-2BB5-C281-395B-9C4C3011C611}"/>
              </a:ext>
            </a:extLst>
          </p:cNvPr>
          <p:cNvSpPr/>
          <p:nvPr/>
        </p:nvSpPr>
        <p:spPr>
          <a:xfrm>
            <a:off x="5080000" y="2413000"/>
            <a:ext cx="19685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64C969A-E670-4371-11B8-7752C34AB696}"/>
              </a:ext>
            </a:extLst>
          </p:cNvPr>
          <p:cNvSpPr txBox="1"/>
          <p:nvPr/>
        </p:nvSpPr>
        <p:spPr>
          <a:xfrm>
            <a:off x="5181600" y="2617400"/>
            <a:ext cx="1765300" cy="2769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b="1">
                <a:solidFill>
                  <a:srgbClr val="0B1220"/>
                </a:solidFill>
                <a:latin typeface="Microsoft YaHei" panose="020B0503020204020204" pitchFamily="34" charset="-122"/>
              </a:rPr>
              <a:t>9.821%</a:t>
            </a:r>
            <a:endParaRPr lang="zh-CN" altLang="en-US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B4DC2D4-63E9-9BB1-14EC-F5C5070B10C3}"/>
              </a:ext>
            </a:extLst>
          </p:cNvPr>
          <p:cNvSpPr/>
          <p:nvPr/>
        </p:nvSpPr>
        <p:spPr>
          <a:xfrm>
            <a:off x="7366000" y="2413000"/>
            <a:ext cx="19685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41164A-27BB-3684-B862-D3C018E18D53}"/>
              </a:ext>
            </a:extLst>
          </p:cNvPr>
          <p:cNvSpPr txBox="1"/>
          <p:nvPr/>
        </p:nvSpPr>
        <p:spPr>
          <a:xfrm>
            <a:off x="7467600" y="2617400"/>
            <a:ext cx="1765300" cy="2769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b="1">
                <a:solidFill>
                  <a:srgbClr val="0B1220"/>
                </a:solidFill>
                <a:latin typeface="Microsoft YaHei" panose="020B0503020204020204" pitchFamily="34" charset="-122"/>
              </a:rPr>
              <a:t>9.744%</a:t>
            </a:r>
            <a:endParaRPr lang="zh-CN" altLang="en-US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F1FCAF8-2732-DB5F-255F-6BC912F0CF5A}"/>
              </a:ext>
            </a:extLst>
          </p:cNvPr>
          <p:cNvSpPr txBox="1"/>
          <p:nvPr/>
        </p:nvSpPr>
        <p:spPr>
          <a:xfrm>
            <a:off x="1206500" y="3792666"/>
            <a:ext cx="1143000" cy="21544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1400" b="1">
                <a:solidFill>
                  <a:srgbClr val="556070"/>
                </a:solidFill>
                <a:latin typeface="Microsoft YaHei" panose="020B0503020204020204" pitchFamily="34" charset="-122"/>
              </a:rPr>
              <a:t>65%</a:t>
            </a:r>
            <a:endParaRPr lang="zh-CN" altLang="en-US" sz="1400" b="1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F54B726-524A-C494-AB3E-32327F6D906D}"/>
              </a:ext>
            </a:extLst>
          </p:cNvPr>
          <p:cNvSpPr/>
          <p:nvPr/>
        </p:nvSpPr>
        <p:spPr>
          <a:xfrm>
            <a:off x="2794000" y="3556000"/>
            <a:ext cx="19685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A5C0D9-9689-A5C6-BA5D-773E03A72F3B}"/>
              </a:ext>
            </a:extLst>
          </p:cNvPr>
          <p:cNvSpPr txBox="1"/>
          <p:nvPr/>
        </p:nvSpPr>
        <p:spPr>
          <a:xfrm>
            <a:off x="2895600" y="3760400"/>
            <a:ext cx="1765300" cy="2769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b="1">
                <a:solidFill>
                  <a:srgbClr val="0B1220"/>
                </a:solidFill>
                <a:latin typeface="Microsoft YaHei" panose="020B0503020204020204" pitchFamily="34" charset="-122"/>
              </a:rPr>
              <a:t>9.765%</a:t>
            </a:r>
            <a:endParaRPr lang="zh-CN" altLang="en-US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EA9248A-1A94-7C34-E3F8-F7C9C3E05D28}"/>
              </a:ext>
            </a:extLst>
          </p:cNvPr>
          <p:cNvSpPr/>
          <p:nvPr/>
        </p:nvSpPr>
        <p:spPr>
          <a:xfrm>
            <a:off x="5080000" y="3556000"/>
            <a:ext cx="1968500" cy="787400"/>
          </a:xfrm>
          <a:prstGeom prst="roundRect">
            <a:avLst/>
          </a:prstGeom>
          <a:solidFill>
            <a:srgbClr val="FFF2E8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932AE8E-1B67-FFD2-C9DB-0973F1735324}"/>
              </a:ext>
            </a:extLst>
          </p:cNvPr>
          <p:cNvSpPr txBox="1"/>
          <p:nvPr/>
        </p:nvSpPr>
        <p:spPr>
          <a:xfrm>
            <a:off x="5181600" y="3760400"/>
            <a:ext cx="1765300" cy="2769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b="1">
                <a:solidFill>
                  <a:srgbClr val="1E6BE3"/>
                </a:solidFill>
                <a:latin typeface="Microsoft YaHei" panose="020B0503020204020204" pitchFamily="34" charset="-122"/>
              </a:rPr>
              <a:t>9.855%</a:t>
            </a:r>
            <a:endParaRPr lang="zh-CN" altLang="en-US" b="1">
              <a:solidFill>
                <a:srgbClr val="1E6BE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62E15CF-ABE9-AA5C-26C6-BFE0D2506F9F}"/>
              </a:ext>
            </a:extLst>
          </p:cNvPr>
          <p:cNvSpPr/>
          <p:nvPr/>
        </p:nvSpPr>
        <p:spPr>
          <a:xfrm>
            <a:off x="7366000" y="3556000"/>
            <a:ext cx="19685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F96B215-BD86-CF54-2747-11A2FBBC7C3B}"/>
              </a:ext>
            </a:extLst>
          </p:cNvPr>
          <p:cNvSpPr txBox="1"/>
          <p:nvPr/>
        </p:nvSpPr>
        <p:spPr>
          <a:xfrm>
            <a:off x="7467600" y="3760400"/>
            <a:ext cx="1765300" cy="2769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b="1">
                <a:solidFill>
                  <a:srgbClr val="0B1220"/>
                </a:solidFill>
                <a:latin typeface="Microsoft YaHei" panose="020B0503020204020204" pitchFamily="34" charset="-122"/>
              </a:rPr>
              <a:t>9.762%</a:t>
            </a:r>
            <a:endParaRPr lang="zh-CN" altLang="en-US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283E5BF-5F30-D057-8EF3-94831E9A0375}"/>
              </a:ext>
            </a:extLst>
          </p:cNvPr>
          <p:cNvSpPr txBox="1"/>
          <p:nvPr/>
        </p:nvSpPr>
        <p:spPr>
          <a:xfrm>
            <a:off x="1206500" y="4935666"/>
            <a:ext cx="1143000" cy="21544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1400" b="1">
                <a:solidFill>
                  <a:srgbClr val="556070"/>
                </a:solidFill>
                <a:latin typeface="Microsoft YaHei" panose="020B0503020204020204" pitchFamily="34" charset="-122"/>
              </a:rPr>
              <a:t>67%</a:t>
            </a:r>
            <a:endParaRPr lang="zh-CN" altLang="en-US" sz="1400" b="1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65C30B2-4BDA-7BD8-9207-2E6A6F32E53A}"/>
              </a:ext>
            </a:extLst>
          </p:cNvPr>
          <p:cNvSpPr/>
          <p:nvPr/>
        </p:nvSpPr>
        <p:spPr>
          <a:xfrm>
            <a:off x="2794000" y="4699000"/>
            <a:ext cx="19685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8F90ED8-EEAF-2C7F-B92B-1F35E4961105}"/>
              </a:ext>
            </a:extLst>
          </p:cNvPr>
          <p:cNvSpPr txBox="1"/>
          <p:nvPr/>
        </p:nvSpPr>
        <p:spPr>
          <a:xfrm>
            <a:off x="2895600" y="4903400"/>
            <a:ext cx="1765300" cy="2769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b="1">
                <a:solidFill>
                  <a:srgbClr val="0B1220"/>
                </a:solidFill>
                <a:latin typeface="Microsoft YaHei" panose="020B0503020204020204" pitchFamily="34" charset="-122"/>
              </a:rPr>
              <a:t>9.679%</a:t>
            </a:r>
            <a:endParaRPr lang="zh-CN" altLang="en-US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589987F-E5D5-A47F-A0BB-4D796A736BC5}"/>
              </a:ext>
            </a:extLst>
          </p:cNvPr>
          <p:cNvSpPr/>
          <p:nvPr/>
        </p:nvSpPr>
        <p:spPr>
          <a:xfrm>
            <a:off x="5080000" y="4699000"/>
            <a:ext cx="19685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0C721BB-305E-1827-0BB2-E6AF2F508F8B}"/>
              </a:ext>
            </a:extLst>
          </p:cNvPr>
          <p:cNvSpPr txBox="1"/>
          <p:nvPr/>
        </p:nvSpPr>
        <p:spPr>
          <a:xfrm>
            <a:off x="5181600" y="4903400"/>
            <a:ext cx="1765300" cy="2769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b="1">
                <a:solidFill>
                  <a:srgbClr val="0B1220"/>
                </a:solidFill>
                <a:latin typeface="Microsoft YaHei" panose="020B0503020204020204" pitchFamily="34" charset="-122"/>
              </a:rPr>
              <a:t>9.760%</a:t>
            </a:r>
            <a:endParaRPr lang="zh-CN" altLang="en-US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95D6279-F585-B6CF-ABB8-509704FA1ABF}"/>
              </a:ext>
            </a:extLst>
          </p:cNvPr>
          <p:cNvSpPr/>
          <p:nvPr/>
        </p:nvSpPr>
        <p:spPr>
          <a:xfrm>
            <a:off x="7366000" y="4699000"/>
            <a:ext cx="19685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C142659-C4E8-402A-CF0D-299F1B02BEB9}"/>
              </a:ext>
            </a:extLst>
          </p:cNvPr>
          <p:cNvSpPr txBox="1"/>
          <p:nvPr/>
        </p:nvSpPr>
        <p:spPr>
          <a:xfrm>
            <a:off x="7467600" y="4903400"/>
            <a:ext cx="1765300" cy="2769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b="1">
                <a:solidFill>
                  <a:srgbClr val="0B1220"/>
                </a:solidFill>
                <a:latin typeface="Microsoft YaHei" panose="020B0503020204020204" pitchFamily="34" charset="-122"/>
              </a:rPr>
              <a:t>9.659%</a:t>
            </a:r>
            <a:endParaRPr lang="zh-CN" altLang="en-US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0BD26052-E32F-03A0-2CBA-CC987CA1A1AF}"/>
              </a:ext>
            </a:extLst>
          </p:cNvPr>
          <p:cNvSpPr/>
          <p:nvPr/>
        </p:nvSpPr>
        <p:spPr>
          <a:xfrm>
            <a:off x="9779000" y="2413000"/>
            <a:ext cx="1778000" cy="3073400"/>
          </a:xfrm>
          <a:prstGeom prst="roundRect">
            <a:avLst/>
          </a:prstGeom>
          <a:solidFill>
            <a:srgbClr val="F0F8FF"/>
          </a:solidFill>
          <a:ln>
            <a:solidFill>
              <a:srgbClr val="CAE1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6350386-1ED3-1431-CF4D-898450F95251}"/>
              </a:ext>
            </a:extLst>
          </p:cNvPr>
          <p:cNvSpPr txBox="1"/>
          <p:nvPr/>
        </p:nvSpPr>
        <p:spPr>
          <a:xfrm>
            <a:off x="10033000" y="2738566"/>
            <a:ext cx="1270000" cy="209288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zh-CN" altLang="en-US" sz="1700" b="1">
                <a:solidFill>
                  <a:srgbClr val="0B1220"/>
                </a:solidFill>
                <a:latin typeface="Microsoft YaHei" panose="020B0503020204020204" pitchFamily="34" charset="-122"/>
              </a:rPr>
              <a:t>名义点</a:t>
            </a:r>
          </a:p>
          <a:p>
            <a:pPr algn="ctr"/>
            <a:r>
              <a:rPr lang="en-US" altLang="zh-CN" sz="1700" b="1">
                <a:solidFill>
                  <a:srgbClr val="0B1220"/>
                </a:solidFill>
                <a:latin typeface="Microsoft YaHei" panose="020B0503020204020204" pitchFamily="34" charset="-122"/>
              </a:rPr>
              <a:t>9.855%</a:t>
            </a:r>
          </a:p>
          <a:p>
            <a:pPr algn="ctr"/>
            <a:endParaRPr lang="en-US" altLang="zh-CN" sz="1700" b="1">
              <a:solidFill>
                <a:srgbClr val="0B1220"/>
              </a:solidFill>
              <a:latin typeface="Microsoft YaHei" panose="020B0503020204020204" pitchFamily="34" charset="-122"/>
            </a:endParaRPr>
          </a:p>
          <a:p>
            <a:pPr algn="ctr"/>
            <a:r>
              <a:rPr lang="zh-CN" altLang="en-US" sz="1700" b="1">
                <a:solidFill>
                  <a:srgbClr val="0B1220"/>
                </a:solidFill>
                <a:latin typeface="Microsoft YaHei" panose="020B0503020204020204" pitchFamily="34" charset="-122"/>
              </a:rPr>
              <a:t>最低点</a:t>
            </a:r>
          </a:p>
          <a:p>
            <a:pPr algn="ctr"/>
            <a:r>
              <a:rPr lang="en-US" altLang="zh-CN" sz="1700" b="1">
                <a:solidFill>
                  <a:srgbClr val="0B1220"/>
                </a:solidFill>
                <a:latin typeface="Microsoft YaHei" panose="020B0503020204020204" pitchFamily="34" charset="-122"/>
              </a:rPr>
              <a:t>9.659%</a:t>
            </a:r>
          </a:p>
          <a:p>
            <a:pPr algn="ctr"/>
            <a:endParaRPr lang="en-US" altLang="zh-CN" sz="1700" b="1">
              <a:solidFill>
                <a:srgbClr val="0B1220"/>
              </a:solidFill>
              <a:latin typeface="Microsoft YaHei" panose="020B0503020204020204" pitchFamily="34" charset="-122"/>
            </a:endParaRPr>
          </a:p>
          <a:p>
            <a:pPr algn="ctr"/>
            <a:r>
              <a:rPr lang="zh-CN" altLang="en-US" sz="1700" b="1">
                <a:solidFill>
                  <a:srgbClr val="0B1220"/>
                </a:solidFill>
                <a:latin typeface="Microsoft YaHei" panose="020B0503020204020204" pitchFamily="34" charset="-122"/>
              </a:rPr>
              <a:t>能量误差</a:t>
            </a:r>
          </a:p>
          <a:p>
            <a:pPr algn="ctr"/>
            <a:r>
              <a:rPr lang="zh-CN" altLang="en-US" sz="1700" b="1">
                <a:solidFill>
                  <a:srgbClr val="0B1220"/>
                </a:solidFill>
                <a:latin typeface="Microsoft YaHei" panose="020B0503020204020204" pitchFamily="34" charset="-122"/>
              </a:rPr>
              <a:t>≤</a:t>
            </a:r>
            <a:r>
              <a:rPr lang="en-US" altLang="zh-CN" sz="1700" b="1">
                <a:solidFill>
                  <a:srgbClr val="0B1220"/>
                </a:solidFill>
                <a:latin typeface="Microsoft YaHei" panose="020B0503020204020204" pitchFamily="34" charset="-122"/>
              </a:rPr>
              <a:t>0.024%</a:t>
            </a:r>
            <a:endParaRPr lang="zh-CN" altLang="en-US" sz="17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014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6009625-FD08-1823-CD86-AD6D6C3231D6}"/>
              </a:ext>
            </a:extLst>
          </p:cNvPr>
          <p:cNvSpPr txBox="1"/>
          <p:nvPr/>
        </p:nvSpPr>
        <p:spPr>
          <a:xfrm>
            <a:off x="609600" y="376366"/>
            <a:ext cx="4572000" cy="1692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CN" sz="1100" b="1">
                <a:solidFill>
                  <a:srgbClr val="1E6BE3"/>
                </a:solidFill>
                <a:latin typeface="Microsoft YaHei" panose="020B0503020204020204" pitchFamily="34" charset="-122"/>
              </a:rPr>
              <a:t>11 </a:t>
            </a:r>
            <a:r>
              <a:rPr lang="zh-CN" altLang="en-US" sz="1100" b="1">
                <a:solidFill>
                  <a:srgbClr val="1E6BE3"/>
                </a:solidFill>
                <a:latin typeface="Microsoft YaHei" panose="020B0503020204020204" pitchFamily="34" charset="-122"/>
              </a:rPr>
              <a:t>光谱验证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B3BA3A-4692-D7D5-51E0-09DFC23A2A8D}"/>
              </a:ext>
            </a:extLst>
          </p:cNvPr>
          <p:cNvSpPr txBox="1"/>
          <p:nvPr/>
        </p:nvSpPr>
        <p:spPr>
          <a:xfrm>
            <a:off x="609600" y="706566"/>
            <a:ext cx="10972800" cy="41549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单一周期对 </a:t>
            </a:r>
            <a:r>
              <a:rPr lang="en-US" altLang="zh-CN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RGB </a:t>
            </a:r>
            <a:r>
              <a:rPr lang="zh-CN" altLang="en-US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响应强烈不同，</a:t>
            </a:r>
            <a:r>
              <a:rPr lang="en-US" altLang="zh-CN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600 nm </a:t>
            </a:r>
            <a:r>
              <a:rPr lang="zh-CN" altLang="en-US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后 </a:t>
            </a:r>
            <a:r>
              <a:rPr lang="en-US" altLang="zh-CN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+1 </a:t>
            </a:r>
            <a:r>
              <a:rPr lang="zh-CN" altLang="en-US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级不再传播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7BBC90-B222-0175-61E3-A6003C53B26C}"/>
              </a:ext>
            </a:extLst>
          </p:cNvPr>
          <p:cNvSpPr/>
          <p:nvPr/>
        </p:nvSpPr>
        <p:spPr>
          <a:xfrm>
            <a:off x="609600" y="1422400"/>
            <a:ext cx="10972800" cy="12700"/>
          </a:xfrm>
          <a:prstGeom prst="rect">
            <a:avLst/>
          </a:prstGeom>
          <a:solidFill>
            <a:srgbClr val="D7DEE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21CD81-387F-6A9E-2177-554C6A427383}"/>
              </a:ext>
            </a:extLst>
          </p:cNvPr>
          <p:cNvSpPr txBox="1"/>
          <p:nvPr/>
        </p:nvSpPr>
        <p:spPr>
          <a:xfrm>
            <a:off x="11112500" y="6370766"/>
            <a:ext cx="4572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556070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1000" b="1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04219B5-3858-272B-DA40-191B5B27B04E}"/>
              </a:ext>
            </a:extLst>
          </p:cNvPr>
          <p:cNvSpPr/>
          <p:nvPr/>
        </p:nvSpPr>
        <p:spPr>
          <a:xfrm>
            <a:off x="838200" y="1937396"/>
            <a:ext cx="101600" cy="101600"/>
          </a:xfrm>
          <a:prstGeom prst="ellipse">
            <a:avLst/>
          </a:prstGeom>
          <a:solidFill>
            <a:srgbClr val="18A6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1B74C1-0C89-D075-115A-73E09354FAE2}"/>
              </a:ext>
            </a:extLst>
          </p:cNvPr>
          <p:cNvSpPr txBox="1"/>
          <p:nvPr/>
        </p:nvSpPr>
        <p:spPr>
          <a:xfrm>
            <a:off x="635000" y="5634166"/>
            <a:ext cx="5334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450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AE89C95-24DA-2133-DDFA-ED4EF46745F9}"/>
              </a:ext>
            </a:extLst>
          </p:cNvPr>
          <p:cNvCxnSpPr/>
          <p:nvPr/>
        </p:nvCxnSpPr>
        <p:spPr>
          <a:xfrm>
            <a:off x="889000" y="1988196"/>
            <a:ext cx="936625" cy="732195"/>
          </a:xfrm>
          <a:prstGeom prst="line">
            <a:avLst/>
          </a:prstGeom>
          <a:ln w="31750">
            <a:solidFill>
              <a:srgbClr val="18A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61BADD72-8394-8565-2F61-FA3ED2841B09}"/>
              </a:ext>
            </a:extLst>
          </p:cNvPr>
          <p:cNvSpPr/>
          <p:nvPr/>
        </p:nvSpPr>
        <p:spPr>
          <a:xfrm>
            <a:off x="1774825" y="2669591"/>
            <a:ext cx="101600" cy="101600"/>
          </a:xfrm>
          <a:prstGeom prst="ellipse">
            <a:avLst/>
          </a:prstGeom>
          <a:solidFill>
            <a:srgbClr val="18A6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416E956-60E0-BA62-F32B-5AB887794CE6}"/>
              </a:ext>
            </a:extLst>
          </p:cNvPr>
          <p:cNvSpPr txBox="1"/>
          <p:nvPr/>
        </p:nvSpPr>
        <p:spPr>
          <a:xfrm>
            <a:off x="1571625" y="5634166"/>
            <a:ext cx="5334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475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D77106C-EA7F-04A7-AE63-76AF4EE35065}"/>
              </a:ext>
            </a:extLst>
          </p:cNvPr>
          <p:cNvCxnSpPr/>
          <p:nvPr/>
        </p:nvCxnSpPr>
        <p:spPr>
          <a:xfrm>
            <a:off x="1825625" y="2720391"/>
            <a:ext cx="936625" cy="612571"/>
          </a:xfrm>
          <a:prstGeom prst="line">
            <a:avLst/>
          </a:prstGeom>
          <a:ln w="31750">
            <a:solidFill>
              <a:srgbClr val="18A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F22C443D-374E-368A-A5F1-8A5AC9824CA7}"/>
              </a:ext>
            </a:extLst>
          </p:cNvPr>
          <p:cNvSpPr/>
          <p:nvPr/>
        </p:nvSpPr>
        <p:spPr>
          <a:xfrm>
            <a:off x="2711450" y="3282162"/>
            <a:ext cx="101600" cy="101600"/>
          </a:xfrm>
          <a:prstGeom prst="ellipse">
            <a:avLst/>
          </a:prstGeom>
          <a:solidFill>
            <a:srgbClr val="18A6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6B059D-025D-0803-8319-CB2A79DB5AA5}"/>
              </a:ext>
            </a:extLst>
          </p:cNvPr>
          <p:cNvSpPr txBox="1"/>
          <p:nvPr/>
        </p:nvSpPr>
        <p:spPr>
          <a:xfrm>
            <a:off x="2508250" y="5634166"/>
            <a:ext cx="5334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500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D46D783-2F15-B153-B4F5-F0979EC63B2A}"/>
              </a:ext>
            </a:extLst>
          </p:cNvPr>
          <p:cNvCxnSpPr/>
          <p:nvPr/>
        </p:nvCxnSpPr>
        <p:spPr>
          <a:xfrm>
            <a:off x="2762250" y="3332962"/>
            <a:ext cx="936625" cy="580552"/>
          </a:xfrm>
          <a:prstGeom prst="line">
            <a:avLst/>
          </a:prstGeom>
          <a:ln w="31750">
            <a:solidFill>
              <a:srgbClr val="18A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FA36315A-08BC-F573-38E4-181D088ED4A2}"/>
              </a:ext>
            </a:extLst>
          </p:cNvPr>
          <p:cNvSpPr/>
          <p:nvPr/>
        </p:nvSpPr>
        <p:spPr>
          <a:xfrm>
            <a:off x="3648075" y="3862714"/>
            <a:ext cx="101600" cy="101600"/>
          </a:xfrm>
          <a:prstGeom prst="ellipse">
            <a:avLst/>
          </a:prstGeom>
          <a:solidFill>
            <a:srgbClr val="18A6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D439EE7-961C-AA8B-5B7C-26E6EB06207C}"/>
              </a:ext>
            </a:extLst>
          </p:cNvPr>
          <p:cNvSpPr txBox="1"/>
          <p:nvPr/>
        </p:nvSpPr>
        <p:spPr>
          <a:xfrm>
            <a:off x="3444875" y="5634166"/>
            <a:ext cx="5334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525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115D3C2-D3F3-8B2B-95B2-A1581FF2BB5B}"/>
              </a:ext>
            </a:extLst>
          </p:cNvPr>
          <p:cNvCxnSpPr/>
          <p:nvPr/>
        </p:nvCxnSpPr>
        <p:spPr>
          <a:xfrm>
            <a:off x="3698875" y="3913514"/>
            <a:ext cx="936625" cy="504693"/>
          </a:xfrm>
          <a:prstGeom prst="line">
            <a:avLst/>
          </a:prstGeom>
          <a:ln w="31750">
            <a:solidFill>
              <a:srgbClr val="18A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EA801C68-3C79-89CB-9163-C0B6BADAC02A}"/>
              </a:ext>
            </a:extLst>
          </p:cNvPr>
          <p:cNvSpPr/>
          <p:nvPr/>
        </p:nvSpPr>
        <p:spPr>
          <a:xfrm>
            <a:off x="4584700" y="4367407"/>
            <a:ext cx="101600" cy="101600"/>
          </a:xfrm>
          <a:prstGeom prst="ellipse">
            <a:avLst/>
          </a:prstGeom>
          <a:solidFill>
            <a:srgbClr val="18A6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ECAFA62-68B1-2E46-9511-12741A78659C}"/>
              </a:ext>
            </a:extLst>
          </p:cNvPr>
          <p:cNvSpPr txBox="1"/>
          <p:nvPr/>
        </p:nvSpPr>
        <p:spPr>
          <a:xfrm>
            <a:off x="4381500" y="5634166"/>
            <a:ext cx="5334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550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846DBB0-2A8D-8260-D314-244CCEB07B4A}"/>
              </a:ext>
            </a:extLst>
          </p:cNvPr>
          <p:cNvCxnSpPr/>
          <p:nvPr/>
        </p:nvCxnSpPr>
        <p:spPr>
          <a:xfrm>
            <a:off x="4635500" y="4418207"/>
            <a:ext cx="936625" cy="452197"/>
          </a:xfrm>
          <a:prstGeom prst="line">
            <a:avLst/>
          </a:prstGeom>
          <a:ln w="31750">
            <a:solidFill>
              <a:srgbClr val="18A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B7F818FA-4AC5-6A93-61D6-5D4E13C99594}"/>
              </a:ext>
            </a:extLst>
          </p:cNvPr>
          <p:cNvSpPr/>
          <p:nvPr/>
        </p:nvSpPr>
        <p:spPr>
          <a:xfrm>
            <a:off x="5521325" y="4819604"/>
            <a:ext cx="101600" cy="101600"/>
          </a:xfrm>
          <a:prstGeom prst="ellipse">
            <a:avLst/>
          </a:prstGeom>
          <a:solidFill>
            <a:srgbClr val="18A6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349E8D0-B489-B9DA-3D70-EBA26E360744}"/>
              </a:ext>
            </a:extLst>
          </p:cNvPr>
          <p:cNvSpPr txBox="1"/>
          <p:nvPr/>
        </p:nvSpPr>
        <p:spPr>
          <a:xfrm>
            <a:off x="5318125" y="5634166"/>
            <a:ext cx="5334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575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ED20D36-7766-1D7A-5D71-6A1814A692FA}"/>
              </a:ext>
            </a:extLst>
          </p:cNvPr>
          <p:cNvCxnSpPr/>
          <p:nvPr/>
        </p:nvCxnSpPr>
        <p:spPr>
          <a:xfrm>
            <a:off x="5572125" y="4870404"/>
            <a:ext cx="936625" cy="590596"/>
          </a:xfrm>
          <a:prstGeom prst="line">
            <a:avLst/>
          </a:prstGeom>
          <a:ln w="31750">
            <a:solidFill>
              <a:srgbClr val="18A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9A79D53B-B7D5-1748-195F-CCFC10B016CC}"/>
              </a:ext>
            </a:extLst>
          </p:cNvPr>
          <p:cNvSpPr/>
          <p:nvPr/>
        </p:nvSpPr>
        <p:spPr>
          <a:xfrm>
            <a:off x="6457950" y="5410200"/>
            <a:ext cx="101600" cy="101600"/>
          </a:xfrm>
          <a:prstGeom prst="ellipse">
            <a:avLst/>
          </a:prstGeom>
          <a:solidFill>
            <a:srgbClr val="18A6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06A926E-65E3-B59A-DB51-ACD13099CE6D}"/>
              </a:ext>
            </a:extLst>
          </p:cNvPr>
          <p:cNvSpPr txBox="1"/>
          <p:nvPr/>
        </p:nvSpPr>
        <p:spPr>
          <a:xfrm>
            <a:off x="6254750" y="5634166"/>
            <a:ext cx="5334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600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A1B8539-CC61-7A96-671E-94F92EA38939}"/>
              </a:ext>
            </a:extLst>
          </p:cNvPr>
          <p:cNvCxnSpPr/>
          <p:nvPr/>
        </p:nvCxnSpPr>
        <p:spPr>
          <a:xfrm>
            <a:off x="6508750" y="5461000"/>
            <a:ext cx="936625" cy="0"/>
          </a:xfrm>
          <a:prstGeom prst="line">
            <a:avLst/>
          </a:prstGeom>
          <a:ln w="31750">
            <a:solidFill>
              <a:srgbClr val="18A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2BF84FBE-035D-9D68-9325-06F68D1CB4C0}"/>
              </a:ext>
            </a:extLst>
          </p:cNvPr>
          <p:cNvSpPr/>
          <p:nvPr/>
        </p:nvSpPr>
        <p:spPr>
          <a:xfrm>
            <a:off x="7394575" y="5410200"/>
            <a:ext cx="101600" cy="101600"/>
          </a:xfrm>
          <a:prstGeom prst="ellipse">
            <a:avLst/>
          </a:prstGeom>
          <a:solidFill>
            <a:srgbClr val="18A6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AA93963-CADF-E19D-A7D9-C7247D8BBA15}"/>
              </a:ext>
            </a:extLst>
          </p:cNvPr>
          <p:cNvSpPr txBox="1"/>
          <p:nvPr/>
        </p:nvSpPr>
        <p:spPr>
          <a:xfrm>
            <a:off x="7191375" y="5634166"/>
            <a:ext cx="5334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625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81A9CCA-5E01-1D8A-C3D4-33B276F66250}"/>
              </a:ext>
            </a:extLst>
          </p:cNvPr>
          <p:cNvCxnSpPr/>
          <p:nvPr/>
        </p:nvCxnSpPr>
        <p:spPr>
          <a:xfrm>
            <a:off x="7445375" y="5461000"/>
            <a:ext cx="936625" cy="0"/>
          </a:xfrm>
          <a:prstGeom prst="line">
            <a:avLst/>
          </a:prstGeom>
          <a:ln w="31750">
            <a:solidFill>
              <a:srgbClr val="18A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97448B22-A10C-98BD-329B-06A13E89AF29}"/>
              </a:ext>
            </a:extLst>
          </p:cNvPr>
          <p:cNvSpPr/>
          <p:nvPr/>
        </p:nvSpPr>
        <p:spPr>
          <a:xfrm>
            <a:off x="8331200" y="5410200"/>
            <a:ext cx="101600" cy="101600"/>
          </a:xfrm>
          <a:prstGeom prst="ellipse">
            <a:avLst/>
          </a:prstGeom>
          <a:solidFill>
            <a:srgbClr val="18A6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6ECC8E-8D2C-E971-CF6B-BE6543BA9041}"/>
              </a:ext>
            </a:extLst>
          </p:cNvPr>
          <p:cNvSpPr txBox="1"/>
          <p:nvPr/>
        </p:nvSpPr>
        <p:spPr>
          <a:xfrm>
            <a:off x="8128000" y="5634166"/>
            <a:ext cx="5334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556070"/>
                </a:solidFill>
                <a:latin typeface="Microsoft YaHei" panose="020B0503020204020204" pitchFamily="34" charset="-122"/>
              </a:rPr>
              <a:t>650</a:t>
            </a:r>
            <a:endParaRPr lang="zh-CN" altLang="en-US" sz="900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338536E-1D6D-D41B-48B8-277B786D1BF4}"/>
              </a:ext>
            </a:extLst>
          </p:cNvPr>
          <p:cNvSpPr txBox="1"/>
          <p:nvPr/>
        </p:nvSpPr>
        <p:spPr>
          <a:xfrm>
            <a:off x="3429000" y="5964366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556070"/>
                </a:solidFill>
                <a:latin typeface="Microsoft YaHei" panose="020B0503020204020204" pitchFamily="34" charset="-122"/>
              </a:rPr>
              <a:t>波长 </a:t>
            </a:r>
            <a:r>
              <a:rPr lang="en-US" altLang="zh-CN" sz="1100" b="1">
                <a:solidFill>
                  <a:srgbClr val="556070"/>
                </a:solidFill>
                <a:latin typeface="Microsoft YaHei" panose="020B0503020204020204" pitchFamily="34" charset="-122"/>
              </a:rPr>
              <a:t>(nm)</a:t>
            </a:r>
            <a:endParaRPr lang="zh-CN" altLang="en-US" sz="1100" b="1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8C3F7CB-04A9-BF96-04FB-92B2D20EF0F8}"/>
              </a:ext>
            </a:extLst>
          </p:cNvPr>
          <p:cNvSpPr/>
          <p:nvPr/>
        </p:nvSpPr>
        <p:spPr>
          <a:xfrm>
            <a:off x="8890000" y="2095500"/>
            <a:ext cx="2603500" cy="29210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3221992-FC62-D70C-7E77-11E995BD9259}"/>
              </a:ext>
            </a:extLst>
          </p:cNvPr>
          <p:cNvSpPr txBox="1"/>
          <p:nvPr/>
        </p:nvSpPr>
        <p:spPr>
          <a:xfrm>
            <a:off x="9207500" y="2433766"/>
            <a:ext cx="1905000" cy="26161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700" b="1">
                <a:solidFill>
                  <a:srgbClr val="0B1220"/>
                </a:solidFill>
                <a:latin typeface="Microsoft YaHei" panose="020B0503020204020204" pitchFamily="34" charset="-122"/>
              </a:rPr>
              <a:t>设计含义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EE5FBCB-EEB9-787D-6D94-9653616CDB6D}"/>
              </a:ext>
            </a:extLst>
          </p:cNvPr>
          <p:cNvSpPr txBox="1"/>
          <p:nvPr/>
        </p:nvSpPr>
        <p:spPr>
          <a:xfrm>
            <a:off x="9207500" y="3030666"/>
            <a:ext cx="1968500" cy="138499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CN" sz="1500" b="1">
                <a:solidFill>
                  <a:srgbClr val="1E6BE3"/>
                </a:solidFill>
                <a:latin typeface="Microsoft YaHei" panose="020B0503020204020204" pitchFamily="34" charset="-122"/>
              </a:rPr>
              <a:t>532 nm ≈ 9.93%</a:t>
            </a:r>
          </a:p>
          <a:p>
            <a:r>
              <a:rPr lang="zh-CN" altLang="en-US" sz="1500" b="1">
                <a:solidFill>
                  <a:srgbClr val="1E6BE3"/>
                </a:solidFill>
                <a:latin typeface="Microsoft YaHei" panose="020B0503020204020204" pitchFamily="34" charset="-122"/>
              </a:rPr>
              <a:t>输出角 ≈ </a:t>
            </a:r>
            <a:r>
              <a:rPr lang="en-US" altLang="zh-CN" sz="1500" b="1">
                <a:solidFill>
                  <a:srgbClr val="1E6BE3"/>
                </a:solidFill>
                <a:latin typeface="Microsoft YaHei" panose="020B0503020204020204" pitchFamily="34" charset="-122"/>
              </a:rPr>
              <a:t>65.6°</a:t>
            </a:r>
          </a:p>
          <a:p>
            <a:r>
              <a:rPr lang="zh-CN" altLang="en-US" sz="1500" b="1">
                <a:solidFill>
                  <a:srgbClr val="1E6BE3"/>
                </a:solidFill>
                <a:latin typeface="Microsoft YaHei" panose="020B0503020204020204" pitchFamily="34" charset="-122"/>
              </a:rPr>
              <a:t>截止波长 ≈ </a:t>
            </a:r>
            <a:r>
              <a:rPr lang="en-US" altLang="zh-CN" sz="1500" b="1">
                <a:solidFill>
                  <a:srgbClr val="1E6BE3"/>
                </a:solidFill>
                <a:latin typeface="Microsoft YaHei" panose="020B0503020204020204" pitchFamily="34" charset="-122"/>
              </a:rPr>
              <a:t>595 nm</a:t>
            </a:r>
          </a:p>
          <a:p>
            <a:endParaRPr lang="en-US" altLang="zh-CN" sz="1500" b="1">
              <a:solidFill>
                <a:srgbClr val="1E6BE3"/>
              </a:solidFill>
              <a:latin typeface="Microsoft YaHei" panose="020B0503020204020204" pitchFamily="34" charset="-122"/>
            </a:endParaRPr>
          </a:p>
          <a:p>
            <a:r>
              <a:rPr lang="en-US" altLang="zh-CN" sz="1500" b="1">
                <a:solidFill>
                  <a:srgbClr val="1E6BE3"/>
                </a:solidFill>
                <a:latin typeface="Microsoft YaHei" panose="020B0503020204020204" pitchFamily="34" charset="-122"/>
              </a:rPr>
              <a:t>RGB </a:t>
            </a:r>
            <a:r>
              <a:rPr lang="zh-CN" altLang="en-US" sz="1500" b="1">
                <a:solidFill>
                  <a:srgbClr val="1E6BE3"/>
                </a:solidFill>
                <a:latin typeface="Microsoft YaHei" panose="020B0503020204020204" pitchFamily="34" charset="-122"/>
              </a:rPr>
              <a:t>需要分区、多周期或多层设计</a:t>
            </a:r>
          </a:p>
        </p:txBody>
      </p:sp>
    </p:spTree>
    <p:extLst>
      <p:ext uri="{BB962C8B-B14F-4D97-AF65-F5344CB8AC3E}">
        <p14:creationId xmlns:p14="http://schemas.microsoft.com/office/powerpoint/2010/main" val="2417716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27D5E0-4AF9-FAC3-CE16-5E01730107D5}"/>
              </a:ext>
            </a:extLst>
          </p:cNvPr>
          <p:cNvSpPr txBox="1"/>
          <p:nvPr/>
        </p:nvSpPr>
        <p:spPr>
          <a:xfrm>
            <a:off x="609600" y="376366"/>
            <a:ext cx="4572000" cy="1692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CN" sz="1100" b="1">
                <a:solidFill>
                  <a:srgbClr val="1E6BE3"/>
                </a:solidFill>
                <a:latin typeface="Microsoft YaHei" panose="020B0503020204020204" pitchFamily="34" charset="-122"/>
              </a:rPr>
              <a:t>12 </a:t>
            </a:r>
            <a:r>
              <a:rPr lang="zh-CN" altLang="en-US" sz="1100" b="1">
                <a:solidFill>
                  <a:srgbClr val="1E6BE3"/>
                </a:solidFill>
                <a:latin typeface="Microsoft YaHei" panose="020B0503020204020204" pitchFamily="34" charset="-122"/>
              </a:rPr>
              <a:t>今日结论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5F1F77-C3FC-5D54-3725-F92B137818F3}"/>
              </a:ext>
            </a:extLst>
          </p:cNvPr>
          <p:cNvSpPr txBox="1"/>
          <p:nvPr/>
        </p:nvSpPr>
        <p:spPr>
          <a:xfrm>
            <a:off x="609600" y="706566"/>
            <a:ext cx="10972800" cy="41549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2700" b="1">
                <a:solidFill>
                  <a:srgbClr val="0B1220"/>
                </a:solidFill>
                <a:latin typeface="Microsoft YaHei" panose="020B0503020204020204" pitchFamily="34" charset="-122"/>
              </a:rPr>
              <a:t>模型已经完成基础优化与四类验证，下一步进入场分布和系统设计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1A911E-840C-7E57-B970-9F2933147BB8}"/>
              </a:ext>
            </a:extLst>
          </p:cNvPr>
          <p:cNvSpPr/>
          <p:nvPr/>
        </p:nvSpPr>
        <p:spPr>
          <a:xfrm>
            <a:off x="609600" y="1422400"/>
            <a:ext cx="10972800" cy="12700"/>
          </a:xfrm>
          <a:prstGeom prst="rect">
            <a:avLst/>
          </a:prstGeom>
          <a:solidFill>
            <a:srgbClr val="D7DEE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54F2316-FEF1-6AD4-A1B5-C4DBA662EDB3}"/>
              </a:ext>
            </a:extLst>
          </p:cNvPr>
          <p:cNvSpPr txBox="1"/>
          <p:nvPr/>
        </p:nvSpPr>
        <p:spPr>
          <a:xfrm>
            <a:off x="11112500" y="6370766"/>
            <a:ext cx="4572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US" altLang="zh-CN" sz="1000" b="1">
                <a:solidFill>
                  <a:srgbClr val="556070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1000" b="1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A894A60-011A-C345-DB8D-EAA960C9C48D}"/>
              </a:ext>
            </a:extLst>
          </p:cNvPr>
          <p:cNvSpPr/>
          <p:nvPr/>
        </p:nvSpPr>
        <p:spPr>
          <a:xfrm>
            <a:off x="889000" y="1841500"/>
            <a:ext cx="104140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59BCEB-3B96-63E1-E141-E18A73CA6AB8}"/>
              </a:ext>
            </a:extLst>
          </p:cNvPr>
          <p:cNvSpPr txBox="1"/>
          <p:nvPr/>
        </p:nvSpPr>
        <p:spPr>
          <a:xfrm>
            <a:off x="1206500" y="1989266"/>
            <a:ext cx="1714500" cy="26161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700" b="1">
                <a:solidFill>
                  <a:srgbClr val="18A6A0"/>
                </a:solidFill>
                <a:latin typeface="Microsoft YaHei" panose="020B0503020204020204" pitchFamily="34" charset="-122"/>
              </a:rPr>
              <a:t>已经做好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E2F7C6-695D-9985-D466-EF6B4CDA3A60}"/>
              </a:ext>
            </a:extLst>
          </p:cNvPr>
          <p:cNvSpPr txBox="1"/>
          <p:nvPr/>
        </p:nvSpPr>
        <p:spPr>
          <a:xfrm>
            <a:off x="3111500" y="1989266"/>
            <a:ext cx="7874000" cy="230832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CN" sz="1500">
                <a:solidFill>
                  <a:srgbClr val="0B1220"/>
                </a:solidFill>
                <a:latin typeface="Microsoft YaHei" panose="020B0503020204020204" pitchFamily="34" charset="-122"/>
              </a:rPr>
              <a:t>532 nm TE </a:t>
            </a:r>
            <a:r>
              <a:rPr lang="zh-CN" altLang="en-US" sz="1500">
                <a:solidFill>
                  <a:srgbClr val="0B1220"/>
                </a:solidFill>
                <a:latin typeface="Microsoft YaHei" panose="020B0503020204020204" pitchFamily="34" charset="-122"/>
              </a:rPr>
              <a:t>单周期光栅；最终 </a:t>
            </a:r>
            <a:r>
              <a:rPr lang="en-US" altLang="zh-CN" sz="1500">
                <a:solidFill>
                  <a:srgbClr val="0B1220"/>
                </a:solidFill>
                <a:latin typeface="Microsoft YaHei" panose="020B0503020204020204" pitchFamily="34" charset="-122"/>
              </a:rPr>
              <a:t>+1 </a:t>
            </a:r>
            <a:r>
              <a:rPr lang="zh-CN" altLang="en-US" sz="1500">
                <a:solidFill>
                  <a:srgbClr val="0B1220"/>
                </a:solidFill>
                <a:latin typeface="Microsoft YaHei" panose="020B0503020204020204" pitchFamily="34" charset="-122"/>
              </a:rPr>
              <a:t>级效率约 </a:t>
            </a:r>
            <a:r>
              <a:rPr lang="en-US" altLang="zh-CN" sz="1500">
                <a:solidFill>
                  <a:srgbClr val="0B1220"/>
                </a:solidFill>
                <a:latin typeface="Microsoft YaHei" panose="020B0503020204020204" pitchFamily="34" charset="-122"/>
              </a:rPr>
              <a:t>9.93%</a:t>
            </a:r>
            <a:r>
              <a:rPr lang="zh-CN" altLang="en-US" sz="1500">
                <a:solidFill>
                  <a:srgbClr val="0B1220"/>
                </a:solidFill>
                <a:latin typeface="Microsoft YaHei" panose="020B0503020204020204" pitchFamily="34" charset="-122"/>
              </a:rPr>
              <a:t>；能量守恒通过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654AA35-F520-AF31-993A-ABA0DA10C9BA}"/>
              </a:ext>
            </a:extLst>
          </p:cNvPr>
          <p:cNvSpPr/>
          <p:nvPr/>
        </p:nvSpPr>
        <p:spPr>
          <a:xfrm>
            <a:off x="889000" y="2882900"/>
            <a:ext cx="104140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2826AC-9CAC-1CC7-4329-1E26C2206582}"/>
              </a:ext>
            </a:extLst>
          </p:cNvPr>
          <p:cNvSpPr txBox="1"/>
          <p:nvPr/>
        </p:nvSpPr>
        <p:spPr>
          <a:xfrm>
            <a:off x="1206500" y="3030666"/>
            <a:ext cx="1714500" cy="26161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700" b="1">
                <a:solidFill>
                  <a:srgbClr val="18A6A0"/>
                </a:solidFill>
                <a:latin typeface="Microsoft YaHei" panose="020B0503020204020204" pitchFamily="34" charset="-122"/>
              </a:rPr>
              <a:t>已经验证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4A8B2D3-96F5-63DE-2697-742728BFB4D1}"/>
              </a:ext>
            </a:extLst>
          </p:cNvPr>
          <p:cNvSpPr txBox="1"/>
          <p:nvPr/>
        </p:nvSpPr>
        <p:spPr>
          <a:xfrm>
            <a:off x="3111500" y="3030666"/>
            <a:ext cx="7874000" cy="230832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500">
                <a:solidFill>
                  <a:srgbClr val="0B1220"/>
                </a:solidFill>
                <a:latin typeface="Microsoft YaHei" panose="020B0503020204020204" pitchFamily="34" charset="-122"/>
              </a:rPr>
              <a:t>网格收敛、入射角扫描、加工容差、</a:t>
            </a:r>
            <a:r>
              <a:rPr lang="en-US" altLang="zh-CN" sz="1500">
                <a:solidFill>
                  <a:srgbClr val="0B1220"/>
                </a:solidFill>
                <a:latin typeface="Microsoft YaHei" panose="020B0503020204020204" pitchFamily="34" charset="-122"/>
              </a:rPr>
              <a:t>450–650 nm </a:t>
            </a:r>
            <a:r>
              <a:rPr lang="zh-CN" altLang="en-US" sz="1500">
                <a:solidFill>
                  <a:srgbClr val="0B1220"/>
                </a:solidFill>
                <a:latin typeface="Microsoft YaHei" panose="020B0503020204020204" pitchFamily="34" charset="-122"/>
              </a:rPr>
              <a:t>波长扫描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392D0D9-1BB4-E620-1CB0-EE637D795B25}"/>
              </a:ext>
            </a:extLst>
          </p:cNvPr>
          <p:cNvSpPr/>
          <p:nvPr/>
        </p:nvSpPr>
        <p:spPr>
          <a:xfrm>
            <a:off x="889000" y="3924300"/>
            <a:ext cx="104140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0DEDEC1-94C5-EA45-CCCC-BF3254BE6B6D}"/>
              </a:ext>
            </a:extLst>
          </p:cNvPr>
          <p:cNvSpPr txBox="1"/>
          <p:nvPr/>
        </p:nvSpPr>
        <p:spPr>
          <a:xfrm>
            <a:off x="1206500" y="4072066"/>
            <a:ext cx="1714500" cy="26161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700" b="1">
                <a:solidFill>
                  <a:srgbClr val="1E6BE3"/>
                </a:solidFill>
                <a:latin typeface="Microsoft YaHei" panose="020B0503020204020204" pitchFamily="34" charset="-122"/>
              </a:rPr>
              <a:t>尚未完成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11193CF-FC9C-8696-7152-D41BDAA34EF9}"/>
              </a:ext>
            </a:extLst>
          </p:cNvPr>
          <p:cNvSpPr txBox="1"/>
          <p:nvPr/>
        </p:nvSpPr>
        <p:spPr>
          <a:xfrm>
            <a:off x="3111500" y="4072066"/>
            <a:ext cx="7874000" cy="230832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500">
                <a:solidFill>
                  <a:srgbClr val="0B1220"/>
                </a:solidFill>
                <a:latin typeface="Microsoft YaHei" panose="020B0503020204020204" pitchFamily="34" charset="-122"/>
              </a:rPr>
              <a:t>真实材料色散、三维结构、</a:t>
            </a:r>
            <a:r>
              <a:rPr lang="en-US" altLang="zh-CN" sz="1500">
                <a:solidFill>
                  <a:srgbClr val="0B1220"/>
                </a:solidFill>
                <a:latin typeface="Microsoft YaHei" panose="020B0503020204020204" pitchFamily="34" charset="-122"/>
              </a:rPr>
              <a:t>RGB </a:t>
            </a:r>
            <a:r>
              <a:rPr lang="zh-CN" altLang="en-US" sz="1500">
                <a:solidFill>
                  <a:srgbClr val="0B1220"/>
                </a:solidFill>
                <a:latin typeface="Microsoft YaHei" panose="020B0503020204020204" pitchFamily="34" charset="-122"/>
              </a:rPr>
              <a:t>共用方案、眼盒均匀性和系统级耦合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92214EB-7ACF-8755-03B3-307891292149}"/>
              </a:ext>
            </a:extLst>
          </p:cNvPr>
          <p:cNvSpPr/>
          <p:nvPr/>
        </p:nvSpPr>
        <p:spPr>
          <a:xfrm>
            <a:off x="889000" y="4965700"/>
            <a:ext cx="10414000" cy="787400"/>
          </a:xfrm>
          <a:prstGeom prst="roundRect">
            <a:avLst/>
          </a:prstGeom>
          <a:solidFill>
            <a:srgbClr val="F3F6F9"/>
          </a:solidFill>
          <a:ln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D74821A-4C85-D17F-136D-A8DDDDD90863}"/>
              </a:ext>
            </a:extLst>
          </p:cNvPr>
          <p:cNvSpPr txBox="1"/>
          <p:nvPr/>
        </p:nvSpPr>
        <p:spPr>
          <a:xfrm>
            <a:off x="1206500" y="5113466"/>
            <a:ext cx="1714500" cy="26161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700" b="1">
                <a:solidFill>
                  <a:srgbClr val="1E6BE3"/>
                </a:solidFill>
                <a:latin typeface="Microsoft YaHei" panose="020B0503020204020204" pitchFamily="34" charset="-122"/>
              </a:rPr>
              <a:t>下一步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FFED14-8632-7028-7E54-E8DAE5183AD4}"/>
              </a:ext>
            </a:extLst>
          </p:cNvPr>
          <p:cNvSpPr txBox="1"/>
          <p:nvPr/>
        </p:nvSpPr>
        <p:spPr>
          <a:xfrm>
            <a:off x="3111500" y="5113466"/>
            <a:ext cx="7874000" cy="230832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500">
                <a:solidFill>
                  <a:srgbClr val="0B1220"/>
                </a:solidFill>
                <a:latin typeface="Microsoft YaHei" panose="020B0503020204020204" pitchFamily="34" charset="-122"/>
              </a:rPr>
              <a:t>查看 </a:t>
            </a:r>
            <a:r>
              <a:rPr lang="en-US" altLang="zh-CN" sz="1500">
                <a:solidFill>
                  <a:srgbClr val="0B1220"/>
                </a:solidFill>
                <a:latin typeface="Microsoft YaHei" panose="020B0503020204020204" pitchFamily="34" charset="-122"/>
              </a:rPr>
              <a:t>Poynting vector </a:t>
            </a:r>
            <a:r>
              <a:rPr lang="zh-CN" altLang="en-US" sz="1500">
                <a:solidFill>
                  <a:srgbClr val="0B1220"/>
                </a:solidFill>
                <a:latin typeface="Microsoft YaHei" panose="020B0503020204020204" pitchFamily="34" charset="-122"/>
              </a:rPr>
              <a:t>与各衍射级；加入材料色散；进行多目标优化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0D76CEF-8554-EF8B-CCFA-6250B5238557}"/>
              </a:ext>
            </a:extLst>
          </p:cNvPr>
          <p:cNvSpPr txBox="1"/>
          <p:nvPr/>
        </p:nvSpPr>
        <p:spPr>
          <a:xfrm>
            <a:off x="889000" y="6218366"/>
            <a:ext cx="10414000" cy="21544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CN" altLang="en-US" sz="1400" b="1">
                <a:solidFill>
                  <a:srgbClr val="556070"/>
                </a:solidFill>
                <a:latin typeface="Microsoft YaHei" panose="020B0503020204020204" pitchFamily="34" charset="-122"/>
              </a:rPr>
              <a:t>恢复最终模型：</a:t>
            </a:r>
            <a:r>
              <a:rPr lang="en-US" altLang="zh-CN" sz="1400" b="1">
                <a:solidFill>
                  <a:srgbClr val="556070"/>
                </a:solidFill>
                <a:latin typeface="Microsoft YaHei" panose="020B0503020204020204" pitchFamily="34" charset="-122"/>
              </a:rPr>
              <a:t>feval("D:/FDTD_File/restore_final_model.lsf");</a:t>
            </a:r>
            <a:endParaRPr lang="zh-CN" altLang="en-US" sz="1400" b="1">
              <a:solidFill>
                <a:srgbClr val="55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83656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</Words>
  <Application>Microsoft Office PowerPoint</Application>
  <DocSecurity>0</DocSecurity>
  <PresentationFormat>宽屏</PresentationFormat>
  <Paragraphs>204</Paragraphs>
  <Slides>13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Kai WANG</cp:lastModifiedBy>
  <cp:revision>1</cp:revision>
  <dcterms:created xsi:type="dcterms:W3CDTF">2026-08-07T16:09:34Z</dcterms:created>
  <dcterms:modified xsi:type="dcterms:W3CDTF">2026-08-08T12:31:51Z</dcterms:modified>
</cp:coreProperties>
</file>