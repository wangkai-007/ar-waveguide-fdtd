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E14A15-FBEC-2194-A10B-394877543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864472-C16C-FE43-53CD-BBEEF3AAB1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233E43-F354-5B0B-FA3D-5A60C7288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7DF60C-2FAE-A7B3-7382-9B9A8A3B9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0E0BC6-EDC3-EF26-8A3C-1D91774A9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4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006A7-D770-9A1B-4B0F-49952B815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231C7C-E311-2107-9A9A-E97DA977A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EA3282-99CA-AD90-7D7C-023B11B8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125137-50E0-084A-7DF7-BFB7F7207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C671CD-DD63-7484-51ED-7727F3AE1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196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144FF-9EE8-6BB5-DAA0-C9A35F384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D93D1A-512F-2BC0-C9D3-5DFAB522D1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4D5110-A274-7877-C1E8-201A49429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C05ADD-0434-29E4-4C13-880F076BC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6D4D3E-A0A5-58EA-A4DD-55F57BA50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162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FEBCC8-2A6A-79B8-9778-DC5AA5FD1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0C30B0-E8D0-09FA-11C7-A8BA5B75C6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47C4C8-EFD6-5311-28EB-12876BE44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3A44D7-2E19-7B52-1172-D8C9F0289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2DACBD-76E3-E7C4-E7A0-79968D61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314972-898D-BAA3-2B1B-E70E0B49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030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5D7F8-0EF2-1D83-AED0-F1F183AF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E4B6B7-BED1-D151-8139-1524D746F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E52C3F-426C-C7E8-EB8B-761AA1426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4FE00D-6826-AA22-4812-B9174ED63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5F6EB4-576C-3845-1E27-DC94F6A12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E95CD5-B857-A7E3-EFE8-5346FC920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565034-52C8-67F3-E031-FBCD32E57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29DD3E-E575-AA9F-742A-066A73AE0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41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A412B6-402A-3F19-DB64-ED0ACA8F3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5D08B8-273F-057B-F2B1-7BA062CDF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DAD297B-F52F-3B59-9156-EA5897744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571E1C-F23D-3232-F1CE-F5F49B752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817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B061FF-BCE0-FF75-EB03-B5CA22D55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984A21-306F-821C-4FE1-79501E655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77EC41-4C08-FE6F-949F-F4817EBED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418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D35493-1642-01BB-03DD-35790BC2F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D7C76B-7520-4992-D909-B70319A49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2E6F9B-987C-917D-A021-4D09EA84B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3B41D7-912E-E903-7B19-993088D1A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722A3F-4611-B5EE-E4F8-A725B4541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B32C4F-E935-B897-8EDF-B894BAC80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496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02B5A3-499D-840A-3500-02ECFC9A3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74C533-470C-0E6F-8826-C3C237DA4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196AFE-2EDD-57B6-75D3-1CCC7E871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4A3DB9-5FD3-D8E4-3388-E46099D88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B124EC-3630-B9AC-1164-685AD332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FA3C3-CC62-F5C5-34B7-6B93AF37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202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E5A1A1-BCD0-890E-9BEB-C7BFEEAA7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0D717A-1E78-EE0C-80CF-086DB4938C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873140-A82F-2A28-8492-3585117D6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CD5145-40B2-1C74-465B-7E2E8643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987481-05FC-B97D-002A-953BD1BFC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025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B345C6-6939-669B-432F-00E1406269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1BA661-BB04-D22A-A19F-AFB50423A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8B4F84-2F83-12D2-F141-AF7C0EEE5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ADDD3-7CC3-45FA-A175-060D2D529B1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791243-4D75-623E-60DF-B78EA233C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A6FEFD-1EE5-550D-966F-2D319E528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388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9FE53D-F766-A473-84FA-0EA7A1E5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29589D-76CC-7573-2F5B-1A1CC77DB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74F134-ACD9-3AD1-8077-DA7298DF66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ADDD3-7CC3-45FA-A175-060D2D529B1C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37FCB0-553C-83E6-AD56-828A59A06D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7DD02E-E908-B8E5-05DA-79854E2BC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1450-9BDB-4344-A9F9-B842B98401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25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5DA91B8-6DF2-BC28-0059-7FC07B877C7A}"/>
              </a:ext>
            </a:extLst>
          </p:cNvPr>
          <p:cNvSpPr txBox="1"/>
          <p:nvPr/>
        </p:nvSpPr>
        <p:spPr>
          <a:xfrm>
            <a:off x="464344" y="457200"/>
            <a:ext cx="3571875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0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阶段性学习总结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D8EDE8E-5492-A3FB-CAE0-12774745B0DE}"/>
              </a:ext>
            </a:extLst>
          </p:cNvPr>
          <p:cNvSpPr txBox="1"/>
          <p:nvPr/>
        </p:nvSpPr>
        <p:spPr>
          <a:xfrm>
            <a:off x="464344" y="1143000"/>
            <a:ext cx="6429375" cy="106182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315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</a:t>
            </a:r>
            <a:r>
              <a:rPr lang="zh-CN" altLang="en-US" sz="315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波导光栅：</a:t>
            </a:r>
            <a:r>
              <a:rPr lang="en-US" altLang="zh-CN" sz="315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 </a:t>
            </a:r>
            <a:r>
              <a:rPr lang="zh-CN" altLang="en-US" sz="315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快速优化与 </a:t>
            </a:r>
            <a:r>
              <a:rPr lang="en-US" altLang="zh-CN" sz="315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RGB </a:t>
            </a:r>
            <a:r>
              <a:rPr lang="zh-CN" altLang="en-US" sz="3150" b="1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色散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6B49F2-96E9-65A4-66F5-0E6CF346FF1A}"/>
              </a:ext>
            </a:extLst>
          </p:cNvPr>
          <p:cNvSpPr txBox="1"/>
          <p:nvPr/>
        </p:nvSpPr>
        <p:spPr>
          <a:xfrm>
            <a:off x="478631" y="2171700"/>
            <a:ext cx="6000750" cy="33470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575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从 </a:t>
            </a:r>
            <a:r>
              <a:rPr lang="en-US" altLang="zh-CN" sz="1575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 sz="1575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基准验证，走到参数扫描、容差判断和三色周期反推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E1D95E-A924-3A2C-7849-A5916935B1FF}"/>
              </a:ext>
            </a:extLst>
          </p:cNvPr>
          <p:cNvSpPr/>
          <p:nvPr/>
        </p:nvSpPr>
        <p:spPr>
          <a:xfrm>
            <a:off x="485775" y="2907506"/>
            <a:ext cx="571500" cy="50007"/>
          </a:xfrm>
          <a:prstGeom prst="rect">
            <a:avLst/>
          </a:prstGeom>
          <a:solidFill>
            <a:srgbClr val="0099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32B387-DA24-DAC2-B4C9-1D8B5200E301}"/>
              </a:ext>
            </a:extLst>
          </p:cNvPr>
          <p:cNvSpPr txBox="1"/>
          <p:nvPr/>
        </p:nvSpPr>
        <p:spPr>
          <a:xfrm>
            <a:off x="485775" y="3128963"/>
            <a:ext cx="3357563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学习阶段：</a:t>
            </a:r>
            <a:r>
              <a:rPr lang="en-US" altLang="zh-CN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 </a:t>
            </a:r>
            <a:r>
              <a:rPr lang="zh-CN" altLang="en-US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建模与工程化验证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1AB8EA-3EE4-195B-3EB7-A4A87822EAA8}"/>
              </a:ext>
            </a:extLst>
          </p:cNvPr>
          <p:cNvSpPr txBox="1"/>
          <p:nvPr/>
        </p:nvSpPr>
        <p:spPr>
          <a:xfrm>
            <a:off x="485775" y="4586288"/>
            <a:ext cx="1785938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050">
                <a:solidFill>
                  <a:srgbClr val="FFFF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2026.08.13</a:t>
            </a:r>
            <a:endParaRPr lang="zh-CN" altLang="en-US" sz="1050">
              <a:solidFill>
                <a:srgbClr val="FFFFFF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111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FED0DA6-6B8F-746D-3CB3-B28D37A3ABAC}"/>
              </a:ext>
            </a:extLst>
          </p:cNvPr>
          <p:cNvSpPr txBox="1"/>
          <p:nvPr/>
        </p:nvSpPr>
        <p:spPr>
          <a:xfrm>
            <a:off x="321469" y="171450"/>
            <a:ext cx="2357438" cy="21929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825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WAVEGUIDE • RCWA PHASE</a:t>
            </a:r>
            <a:endParaRPr lang="zh-CN" altLang="en-US" sz="825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F05F02-5079-127E-BFBA-1EB15FD22ADA}"/>
              </a:ext>
            </a:extLst>
          </p:cNvPr>
          <p:cNvSpPr txBox="1"/>
          <p:nvPr/>
        </p:nvSpPr>
        <p:spPr>
          <a:xfrm>
            <a:off x="321469" y="371475"/>
            <a:ext cx="8072438" cy="4385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为什么在 </a:t>
            </a:r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之后引入 </a:t>
            </a:r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？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6D51764-C5C7-263C-DD4C-4D41DDADD4B9}"/>
              </a:ext>
            </a:extLst>
          </p:cNvPr>
          <p:cNvCxnSpPr/>
          <p:nvPr/>
        </p:nvCxnSpPr>
        <p:spPr>
          <a:xfrm>
            <a:off x="321469" y="800100"/>
            <a:ext cx="8501062" cy="0"/>
          </a:xfrm>
          <a:prstGeom prst="line">
            <a:avLst/>
          </a:prstGeom>
          <a:ln w="6429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F94F3E8-FE0C-8C48-A0CC-33EB93276EFD}"/>
              </a:ext>
            </a:extLst>
          </p:cNvPr>
          <p:cNvSpPr txBox="1"/>
          <p:nvPr/>
        </p:nvSpPr>
        <p:spPr>
          <a:xfrm>
            <a:off x="7500938" y="4893469"/>
            <a:ext cx="1285875" cy="19620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r"/>
            <a:r>
              <a:rPr lang="en-US" altLang="zh-CN" sz="6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2026.08.13   |   02</a:t>
            </a:r>
            <a:endParaRPr lang="zh-CN" altLang="en-US" sz="675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636C6A-64B0-98C2-FF40-14346D730B1F}"/>
              </a:ext>
            </a:extLst>
          </p:cNvPr>
          <p:cNvSpPr txBox="1"/>
          <p:nvPr/>
        </p:nvSpPr>
        <p:spPr>
          <a:xfrm>
            <a:off x="321469" y="964406"/>
            <a:ext cx="5000625" cy="33470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5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核心目的：先快速筛选参数，再用 </a:t>
            </a:r>
            <a:r>
              <a:rPr lang="en-US" altLang="zh-CN" sz="15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 sz="15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做高可信验证。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F79AA2E-D7B1-6E28-D458-23220B1203C9}"/>
              </a:ext>
            </a:extLst>
          </p:cNvPr>
          <p:cNvSpPr/>
          <p:nvPr/>
        </p:nvSpPr>
        <p:spPr>
          <a:xfrm>
            <a:off x="392906" y="1643063"/>
            <a:ext cx="1893094" cy="1785937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AD2D55-ABAE-7931-9555-A816894689CE}"/>
              </a:ext>
            </a:extLst>
          </p:cNvPr>
          <p:cNvSpPr txBox="1"/>
          <p:nvPr/>
        </p:nvSpPr>
        <p:spPr>
          <a:xfrm>
            <a:off x="521494" y="1785938"/>
            <a:ext cx="285750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1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</a:t>
            </a:r>
            <a:endParaRPr lang="zh-CN" altLang="en-US" sz="2100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6F270C-87E6-2348-5046-FDBF49B652CA}"/>
              </a:ext>
            </a:extLst>
          </p:cNvPr>
          <p:cNvSpPr txBox="1"/>
          <p:nvPr/>
        </p:nvSpPr>
        <p:spPr>
          <a:xfrm>
            <a:off x="521494" y="2214563"/>
            <a:ext cx="1500188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基准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57004F5-99EA-8860-263A-9A2F1DB942B7}"/>
              </a:ext>
            </a:extLst>
          </p:cNvPr>
          <p:cNvSpPr txBox="1"/>
          <p:nvPr/>
        </p:nvSpPr>
        <p:spPr>
          <a:xfrm>
            <a:off x="521494" y="2607469"/>
            <a:ext cx="1571625" cy="46166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明确结构、场分布与能量守恒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8D51F2C-4D1F-0C23-92E9-C050173CE4E5}"/>
              </a:ext>
            </a:extLst>
          </p:cNvPr>
          <p:cNvCxnSpPr/>
          <p:nvPr/>
        </p:nvCxnSpPr>
        <p:spPr>
          <a:xfrm>
            <a:off x="2293144" y="2536031"/>
            <a:ext cx="171450" cy="0"/>
          </a:xfrm>
          <a:prstGeom prst="line">
            <a:avLst/>
          </a:prstGeom>
          <a:ln w="14288">
            <a:solidFill>
              <a:srgbClr val="2B79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AF75FED-DCA1-40A0-20E9-19AA83D973AD}"/>
              </a:ext>
            </a:extLst>
          </p:cNvPr>
          <p:cNvSpPr/>
          <p:nvPr/>
        </p:nvSpPr>
        <p:spPr>
          <a:xfrm>
            <a:off x="2500313" y="1643063"/>
            <a:ext cx="1893093" cy="1785937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A6472A-D76A-8CD8-E716-6129603D2C4C}"/>
              </a:ext>
            </a:extLst>
          </p:cNvPr>
          <p:cNvSpPr txBox="1"/>
          <p:nvPr/>
        </p:nvSpPr>
        <p:spPr>
          <a:xfrm>
            <a:off x="2628900" y="1785938"/>
            <a:ext cx="285750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1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</a:t>
            </a:r>
            <a:endParaRPr lang="zh-CN" altLang="en-US" sz="2100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A4E5D21-D956-3182-5C8D-0A69B3C12E77}"/>
              </a:ext>
            </a:extLst>
          </p:cNvPr>
          <p:cNvSpPr txBox="1"/>
          <p:nvPr/>
        </p:nvSpPr>
        <p:spPr>
          <a:xfrm>
            <a:off x="2628900" y="2214563"/>
            <a:ext cx="1500188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 </a:t>
            </a:r>
            <a:r>
              <a:rPr lang="zh-CN" altLang="en-US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对齐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40CCA46-4DAD-46CD-94F2-AE45459C96FE}"/>
              </a:ext>
            </a:extLst>
          </p:cNvPr>
          <p:cNvSpPr txBox="1"/>
          <p:nvPr/>
        </p:nvSpPr>
        <p:spPr>
          <a:xfrm>
            <a:off x="2628900" y="2607469"/>
            <a:ext cx="1571625" cy="46166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确认级次效率与 </a:t>
            </a:r>
            <a:r>
              <a:rPr lang="en-US" altLang="zh-CN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一致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2B42779-4451-40AF-9AEB-E5E4A24BB5F8}"/>
              </a:ext>
            </a:extLst>
          </p:cNvPr>
          <p:cNvCxnSpPr/>
          <p:nvPr/>
        </p:nvCxnSpPr>
        <p:spPr>
          <a:xfrm>
            <a:off x="4400550" y="2536031"/>
            <a:ext cx="171450" cy="0"/>
          </a:xfrm>
          <a:prstGeom prst="line">
            <a:avLst/>
          </a:prstGeom>
          <a:ln w="14288">
            <a:solidFill>
              <a:srgbClr val="2B79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A2D2819-85B6-A95A-3539-3ACFE461ED8D}"/>
              </a:ext>
            </a:extLst>
          </p:cNvPr>
          <p:cNvSpPr/>
          <p:nvPr/>
        </p:nvSpPr>
        <p:spPr>
          <a:xfrm>
            <a:off x="4607719" y="1643063"/>
            <a:ext cx="1893094" cy="1785937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61C7D5A-B133-66E7-A545-469B0D073152}"/>
              </a:ext>
            </a:extLst>
          </p:cNvPr>
          <p:cNvSpPr txBox="1"/>
          <p:nvPr/>
        </p:nvSpPr>
        <p:spPr>
          <a:xfrm>
            <a:off x="4736306" y="1785938"/>
            <a:ext cx="285750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1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</a:t>
            </a:r>
            <a:endParaRPr lang="zh-CN" altLang="en-US" sz="2100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9D3326A-8CA2-188A-3EFC-AD912F5353C1}"/>
              </a:ext>
            </a:extLst>
          </p:cNvPr>
          <p:cNvSpPr txBox="1"/>
          <p:nvPr/>
        </p:nvSpPr>
        <p:spPr>
          <a:xfrm>
            <a:off x="4736306" y="2214563"/>
            <a:ext cx="1500188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 </a:t>
            </a:r>
            <a:r>
              <a:rPr lang="zh-CN" altLang="en-US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扫描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864B48D-FB53-3720-3ACA-A1F7ED8FCFA2}"/>
              </a:ext>
            </a:extLst>
          </p:cNvPr>
          <p:cNvSpPr txBox="1"/>
          <p:nvPr/>
        </p:nvSpPr>
        <p:spPr>
          <a:xfrm>
            <a:off x="4736306" y="2607469"/>
            <a:ext cx="1571625" cy="46166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快速找到占空比、高度、角度与波长趋势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3D0A43C-F0EF-2C81-B34E-DBD78036F73F}"/>
              </a:ext>
            </a:extLst>
          </p:cNvPr>
          <p:cNvCxnSpPr/>
          <p:nvPr/>
        </p:nvCxnSpPr>
        <p:spPr>
          <a:xfrm>
            <a:off x="6507956" y="2536031"/>
            <a:ext cx="171450" cy="0"/>
          </a:xfrm>
          <a:prstGeom prst="line">
            <a:avLst/>
          </a:prstGeom>
          <a:ln w="14288">
            <a:solidFill>
              <a:srgbClr val="2B79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EB07B59-41CA-834B-8433-F08F96C7BB46}"/>
              </a:ext>
            </a:extLst>
          </p:cNvPr>
          <p:cNvSpPr/>
          <p:nvPr/>
        </p:nvSpPr>
        <p:spPr>
          <a:xfrm>
            <a:off x="6715125" y="1643063"/>
            <a:ext cx="1893094" cy="1785937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0E34D18-FA24-7E1C-3ED8-D3F6CA29E4EE}"/>
              </a:ext>
            </a:extLst>
          </p:cNvPr>
          <p:cNvSpPr txBox="1"/>
          <p:nvPr/>
        </p:nvSpPr>
        <p:spPr>
          <a:xfrm>
            <a:off x="6843713" y="1785938"/>
            <a:ext cx="285750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1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</a:t>
            </a:r>
            <a:endParaRPr lang="zh-CN" altLang="en-US" sz="2100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6142E4-D1D2-42C7-FAF9-3967F5A39B76}"/>
              </a:ext>
            </a:extLst>
          </p:cNvPr>
          <p:cNvSpPr txBox="1"/>
          <p:nvPr/>
        </p:nvSpPr>
        <p:spPr>
          <a:xfrm>
            <a:off x="6843713" y="2214563"/>
            <a:ext cx="1500188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复核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C9DCB4E-284A-F8AE-DCD3-9CC91BCB658D}"/>
              </a:ext>
            </a:extLst>
          </p:cNvPr>
          <p:cNvSpPr txBox="1"/>
          <p:nvPr/>
        </p:nvSpPr>
        <p:spPr>
          <a:xfrm>
            <a:off x="6843713" y="2607469"/>
            <a:ext cx="1571625" cy="46166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对候选点验证真实电磁场与制造影响</a:t>
            </a:r>
          </a:p>
        </p:txBody>
      </p:sp>
    </p:spTree>
    <p:extLst>
      <p:ext uri="{BB962C8B-B14F-4D97-AF65-F5344CB8AC3E}">
        <p14:creationId xmlns:p14="http://schemas.microsoft.com/office/powerpoint/2010/main" val="3489142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3D0AB0F-6A6E-C712-A6D6-85CEC770D150}"/>
              </a:ext>
            </a:extLst>
          </p:cNvPr>
          <p:cNvSpPr txBox="1"/>
          <p:nvPr/>
        </p:nvSpPr>
        <p:spPr>
          <a:xfrm>
            <a:off x="321469" y="171450"/>
            <a:ext cx="2357438" cy="21929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825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WAVEGUIDE • RCWA PHASE</a:t>
            </a:r>
            <a:endParaRPr lang="zh-CN" altLang="en-US" sz="825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5F8BD46-B6C0-0C5F-7D2F-C9DEFD2C2D26}"/>
              </a:ext>
            </a:extLst>
          </p:cNvPr>
          <p:cNvSpPr txBox="1"/>
          <p:nvPr/>
        </p:nvSpPr>
        <p:spPr>
          <a:xfrm>
            <a:off x="321469" y="371475"/>
            <a:ext cx="8072438" cy="4385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 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与 </a:t>
            </a:r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在 </a:t>
            </a:r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532 nm 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工作点一致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8733B22-00DC-37EA-1725-3D1B9AC505F9}"/>
              </a:ext>
            </a:extLst>
          </p:cNvPr>
          <p:cNvCxnSpPr/>
          <p:nvPr/>
        </p:nvCxnSpPr>
        <p:spPr>
          <a:xfrm>
            <a:off x="321469" y="800100"/>
            <a:ext cx="8501062" cy="0"/>
          </a:xfrm>
          <a:prstGeom prst="line">
            <a:avLst/>
          </a:prstGeom>
          <a:ln w="6429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F77E3AF0-46D4-F0DF-F64D-4989608BD071}"/>
              </a:ext>
            </a:extLst>
          </p:cNvPr>
          <p:cNvSpPr txBox="1"/>
          <p:nvPr/>
        </p:nvSpPr>
        <p:spPr>
          <a:xfrm>
            <a:off x="7500938" y="4893469"/>
            <a:ext cx="1285875" cy="19620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r"/>
            <a:r>
              <a:rPr lang="en-US" altLang="zh-CN" sz="6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2026.08.13   |   03</a:t>
            </a:r>
            <a:endParaRPr lang="zh-CN" altLang="en-US" sz="675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261726-EA12-E6F8-4A74-674A48263034}"/>
              </a:ext>
            </a:extLst>
          </p:cNvPr>
          <p:cNvSpPr txBox="1"/>
          <p:nvPr/>
        </p:nvSpPr>
        <p:spPr>
          <a:xfrm>
            <a:off x="321469" y="964406"/>
            <a:ext cx="7572375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基准结构：周期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386 nm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，占空比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，高度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160 nm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TE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偏振，入射角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15°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DD73E59-442F-F989-57A4-CAD6214FCAF5}"/>
              </a:ext>
            </a:extLst>
          </p:cNvPr>
          <p:cNvSpPr txBox="1"/>
          <p:nvPr/>
        </p:nvSpPr>
        <p:spPr>
          <a:xfrm>
            <a:off x="428625" y="1464469"/>
            <a:ext cx="3000375" cy="31162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透射级次效率（相对入射光）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A8E6B3-5BD5-56AB-98DC-5D9F44B8283E}"/>
              </a:ext>
            </a:extLst>
          </p:cNvPr>
          <p:cNvSpPr txBox="1"/>
          <p:nvPr/>
        </p:nvSpPr>
        <p:spPr>
          <a:xfrm>
            <a:off x="428625" y="1785938"/>
            <a:ext cx="1285875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00" b="1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级次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EDFE63-A76E-70C5-0460-D7C14EBF8BE7}"/>
              </a:ext>
            </a:extLst>
          </p:cNvPr>
          <p:cNvSpPr txBox="1"/>
          <p:nvPr/>
        </p:nvSpPr>
        <p:spPr>
          <a:xfrm>
            <a:off x="1785938" y="1785938"/>
            <a:ext cx="928688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00" b="1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</a:t>
            </a:r>
            <a:endParaRPr lang="zh-CN" altLang="en-US" sz="1200" b="1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474044F-E0FC-2CBC-557E-03DB1872DB97}"/>
              </a:ext>
            </a:extLst>
          </p:cNvPr>
          <p:cNvSpPr txBox="1"/>
          <p:nvPr/>
        </p:nvSpPr>
        <p:spPr>
          <a:xfrm>
            <a:off x="2893219" y="1785938"/>
            <a:ext cx="928688" cy="27699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00" b="1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</a:t>
            </a:r>
            <a:endParaRPr lang="zh-CN" altLang="en-US" sz="1200" b="1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8CDC3F8-1781-AE13-6E23-C19635C02A26}"/>
              </a:ext>
            </a:extLst>
          </p:cNvPr>
          <p:cNvCxnSpPr/>
          <p:nvPr/>
        </p:nvCxnSpPr>
        <p:spPr>
          <a:xfrm>
            <a:off x="428625" y="2028825"/>
            <a:ext cx="3393281" cy="0"/>
          </a:xfrm>
          <a:prstGeom prst="line">
            <a:avLst/>
          </a:prstGeom>
          <a:ln w="5715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E95C92C-4599-8F2D-1519-7EB5F0A84614}"/>
              </a:ext>
            </a:extLst>
          </p:cNvPr>
          <p:cNvSpPr txBox="1"/>
          <p:nvPr/>
        </p:nvSpPr>
        <p:spPr>
          <a:xfrm>
            <a:off x="428625" y="2085975"/>
            <a:ext cx="1285875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-1 </a:t>
            </a:r>
            <a:r>
              <a:rPr lang="zh-CN" altLang="en-US" sz="127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FEA68A-C50F-B002-BAA8-4D4048C29F7C}"/>
              </a:ext>
            </a:extLst>
          </p:cNvPr>
          <p:cNvSpPr txBox="1"/>
          <p:nvPr/>
        </p:nvSpPr>
        <p:spPr>
          <a:xfrm>
            <a:off x="1785938" y="2085975"/>
            <a:ext cx="928688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13.51%</a:t>
            </a:r>
            <a:endParaRPr lang="zh-CN" altLang="en-US" sz="1275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88D2273-E6E6-57BB-8BA7-1442B2707442}"/>
              </a:ext>
            </a:extLst>
          </p:cNvPr>
          <p:cNvSpPr txBox="1"/>
          <p:nvPr/>
        </p:nvSpPr>
        <p:spPr>
          <a:xfrm>
            <a:off x="2893219" y="2085975"/>
            <a:ext cx="928688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>
                <a:solidFill>
                  <a:srgbClr val="00999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13.66%</a:t>
            </a:r>
            <a:endParaRPr lang="zh-CN" altLang="en-US" sz="1275">
              <a:solidFill>
                <a:srgbClr val="00999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41D338E-899A-EDE4-E8F0-E3176387D7F6}"/>
              </a:ext>
            </a:extLst>
          </p:cNvPr>
          <p:cNvCxnSpPr/>
          <p:nvPr/>
        </p:nvCxnSpPr>
        <p:spPr>
          <a:xfrm>
            <a:off x="428625" y="2421731"/>
            <a:ext cx="3393281" cy="0"/>
          </a:xfrm>
          <a:prstGeom prst="line">
            <a:avLst/>
          </a:prstGeom>
          <a:ln w="5715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5835F994-DE67-4DA7-C12C-B699D261FA9D}"/>
              </a:ext>
            </a:extLst>
          </p:cNvPr>
          <p:cNvSpPr txBox="1"/>
          <p:nvPr/>
        </p:nvSpPr>
        <p:spPr>
          <a:xfrm>
            <a:off x="428625" y="2478881"/>
            <a:ext cx="1285875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0 </a:t>
            </a:r>
            <a:r>
              <a:rPr lang="zh-CN" altLang="en-US" sz="127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622CD4B-CCC4-C1E6-800E-3FE49EDEDC83}"/>
              </a:ext>
            </a:extLst>
          </p:cNvPr>
          <p:cNvSpPr txBox="1"/>
          <p:nvPr/>
        </p:nvSpPr>
        <p:spPr>
          <a:xfrm>
            <a:off x="1785938" y="2478881"/>
            <a:ext cx="928688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71.43%</a:t>
            </a:r>
            <a:endParaRPr lang="zh-CN" altLang="en-US" sz="1275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4255AD-DA0E-D379-7011-D9749DA1F52A}"/>
              </a:ext>
            </a:extLst>
          </p:cNvPr>
          <p:cNvSpPr txBox="1"/>
          <p:nvPr/>
        </p:nvSpPr>
        <p:spPr>
          <a:xfrm>
            <a:off x="2893219" y="2478881"/>
            <a:ext cx="928688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>
                <a:solidFill>
                  <a:srgbClr val="00999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70.93%</a:t>
            </a:r>
            <a:endParaRPr lang="zh-CN" altLang="en-US" sz="1275">
              <a:solidFill>
                <a:srgbClr val="00999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D9C102AA-1312-6107-E005-79086DB68F09}"/>
              </a:ext>
            </a:extLst>
          </p:cNvPr>
          <p:cNvCxnSpPr/>
          <p:nvPr/>
        </p:nvCxnSpPr>
        <p:spPr>
          <a:xfrm>
            <a:off x="428625" y="2814638"/>
            <a:ext cx="3393281" cy="0"/>
          </a:xfrm>
          <a:prstGeom prst="line">
            <a:avLst/>
          </a:prstGeom>
          <a:ln w="5715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52CC4D9E-910A-78B2-F9E5-B82E4A5F99CC}"/>
              </a:ext>
            </a:extLst>
          </p:cNvPr>
          <p:cNvSpPr txBox="1"/>
          <p:nvPr/>
        </p:nvSpPr>
        <p:spPr>
          <a:xfrm>
            <a:off x="428625" y="2871788"/>
            <a:ext cx="1285875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+1 </a:t>
            </a:r>
            <a:r>
              <a:rPr lang="zh-CN" altLang="en-US" sz="127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级（目标）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8AFB53-7556-DB9E-F717-A79433D0AACB}"/>
              </a:ext>
            </a:extLst>
          </p:cNvPr>
          <p:cNvSpPr txBox="1"/>
          <p:nvPr/>
        </p:nvSpPr>
        <p:spPr>
          <a:xfrm>
            <a:off x="1785938" y="2871788"/>
            <a:ext cx="928688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9.80%</a:t>
            </a:r>
            <a:endParaRPr lang="zh-CN" altLang="en-US" sz="1275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B1AB4B8-4215-C005-7A4D-2B2FA266BCB5}"/>
              </a:ext>
            </a:extLst>
          </p:cNvPr>
          <p:cNvSpPr txBox="1"/>
          <p:nvPr/>
        </p:nvSpPr>
        <p:spPr>
          <a:xfrm>
            <a:off x="2893219" y="2871788"/>
            <a:ext cx="928688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 b="1">
                <a:solidFill>
                  <a:srgbClr val="00999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9.85%</a:t>
            </a:r>
            <a:endParaRPr lang="zh-CN" altLang="en-US" sz="1275" b="1">
              <a:solidFill>
                <a:srgbClr val="00999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B82612C-182C-FD7B-EA58-0EE79130AC71}"/>
              </a:ext>
            </a:extLst>
          </p:cNvPr>
          <p:cNvSpPr/>
          <p:nvPr/>
        </p:nvSpPr>
        <p:spPr>
          <a:xfrm>
            <a:off x="4643438" y="1535906"/>
            <a:ext cx="3571875" cy="1857375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5591532-E042-9526-BE72-3A1773A18A48}"/>
              </a:ext>
            </a:extLst>
          </p:cNvPr>
          <p:cNvSpPr txBox="1"/>
          <p:nvPr/>
        </p:nvSpPr>
        <p:spPr>
          <a:xfrm>
            <a:off x="4893469" y="1771650"/>
            <a:ext cx="1285875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验证结论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C95C307-6974-441D-CC24-4CE5556157FA}"/>
              </a:ext>
            </a:extLst>
          </p:cNvPr>
          <p:cNvSpPr txBox="1"/>
          <p:nvPr/>
        </p:nvSpPr>
        <p:spPr>
          <a:xfrm>
            <a:off x="4893469" y="2214563"/>
            <a:ext cx="2857500" cy="75020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+1 </a:t>
            </a:r>
            <a:r>
              <a:rPr lang="zh-CN" altLang="en-US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级仅差 </a:t>
            </a:r>
            <a:r>
              <a:rPr lang="en-US" altLang="zh-CN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0.045 </a:t>
            </a:r>
            <a:r>
              <a:rPr lang="zh-CN" altLang="en-US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个百分点。</a:t>
            </a:r>
            <a:r>
              <a:rPr lang="en-US" altLang="zh-CN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\nRCWA </a:t>
            </a:r>
            <a:r>
              <a:rPr lang="zh-CN" altLang="en-US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分层、界面、偏振和周期设置可信。</a:t>
            </a:r>
            <a:r>
              <a:rPr lang="en-US" altLang="zh-CN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\n</a:t>
            </a:r>
            <a:r>
              <a:rPr lang="zh-CN" altLang="en-US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后续可用 </a:t>
            </a:r>
            <a:r>
              <a:rPr lang="en-US" altLang="zh-CN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 </a:t>
            </a:r>
            <a:r>
              <a:rPr lang="zh-CN" altLang="en-US" sz="1425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执行快速扫描。</a:t>
            </a:r>
          </a:p>
        </p:txBody>
      </p:sp>
    </p:spTree>
    <p:extLst>
      <p:ext uri="{BB962C8B-B14F-4D97-AF65-F5344CB8AC3E}">
        <p14:creationId xmlns:p14="http://schemas.microsoft.com/office/powerpoint/2010/main" val="1446043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72AFDD2-C389-CDB2-47F7-16E81B762D80}"/>
              </a:ext>
            </a:extLst>
          </p:cNvPr>
          <p:cNvSpPr txBox="1"/>
          <p:nvPr/>
        </p:nvSpPr>
        <p:spPr>
          <a:xfrm>
            <a:off x="321469" y="171450"/>
            <a:ext cx="2357438" cy="21929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825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WAVEGUIDE • RCWA PHASE</a:t>
            </a:r>
            <a:endParaRPr lang="zh-CN" altLang="en-US" sz="825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7F33D5-E599-A164-098F-D07F9D298A7E}"/>
              </a:ext>
            </a:extLst>
          </p:cNvPr>
          <p:cNvSpPr txBox="1"/>
          <p:nvPr/>
        </p:nvSpPr>
        <p:spPr>
          <a:xfrm>
            <a:off x="321469" y="371475"/>
            <a:ext cx="8072438" cy="4385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粗扫与细扫都指向 </a:t>
            </a:r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 / 160 nm 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的局部最优点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93C1977C-3D65-4947-DE14-AA61B597C714}"/>
              </a:ext>
            </a:extLst>
          </p:cNvPr>
          <p:cNvCxnSpPr/>
          <p:nvPr/>
        </p:nvCxnSpPr>
        <p:spPr>
          <a:xfrm>
            <a:off x="321469" y="800100"/>
            <a:ext cx="8501062" cy="0"/>
          </a:xfrm>
          <a:prstGeom prst="line">
            <a:avLst/>
          </a:prstGeom>
          <a:ln w="6429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253F2573-EAAF-9DEF-E56E-0367399AF647}"/>
              </a:ext>
            </a:extLst>
          </p:cNvPr>
          <p:cNvSpPr txBox="1"/>
          <p:nvPr/>
        </p:nvSpPr>
        <p:spPr>
          <a:xfrm>
            <a:off x="7500938" y="4893469"/>
            <a:ext cx="1285875" cy="19620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r"/>
            <a:r>
              <a:rPr lang="en-US" altLang="zh-CN" sz="6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2026.08.13   |   04</a:t>
            </a:r>
            <a:endParaRPr lang="zh-CN" altLang="en-US" sz="675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DDEA92-3AE3-4B8B-2539-36FBC0BA38AD}"/>
              </a:ext>
            </a:extLst>
          </p:cNvPr>
          <p:cNvSpPr txBox="1"/>
          <p:nvPr/>
        </p:nvSpPr>
        <p:spPr>
          <a:xfrm>
            <a:off x="321469" y="964406"/>
            <a:ext cx="7858125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占空比粗扫：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45%–80%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（步长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5%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）；高度粗扫：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80–240 nm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（步长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 nm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8C4DA2-C145-F456-7A7D-F60E245CBEAC}"/>
              </a:ext>
            </a:extLst>
          </p:cNvPr>
          <p:cNvSpPr txBox="1"/>
          <p:nvPr/>
        </p:nvSpPr>
        <p:spPr>
          <a:xfrm>
            <a:off x="428625" y="1428750"/>
            <a:ext cx="3000375" cy="31162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占空比扫描（高度固定 </a:t>
            </a:r>
            <a:r>
              <a:rPr lang="en-US" altLang="zh-CN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160 nm</a:t>
            </a:r>
            <a:r>
              <a:rPr lang="zh-CN" altLang="en-US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F296CB-F7C0-1286-4A7A-28177A4C7168}"/>
              </a:ext>
            </a:extLst>
          </p:cNvPr>
          <p:cNvSpPr/>
          <p:nvPr/>
        </p:nvSpPr>
        <p:spPr>
          <a:xfrm>
            <a:off x="500063" y="2680335"/>
            <a:ext cx="271462" cy="677228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6B151E-9431-AEF2-6ED8-8CA12B874ABB}"/>
              </a:ext>
            </a:extLst>
          </p:cNvPr>
          <p:cNvSpPr txBox="1"/>
          <p:nvPr/>
        </p:nvSpPr>
        <p:spPr>
          <a:xfrm>
            <a:off x="464344" y="3464719"/>
            <a:ext cx="392906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45%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16AF4FD-2FFB-52F3-9B61-78B8EFA094EA}"/>
              </a:ext>
            </a:extLst>
          </p:cNvPr>
          <p:cNvSpPr/>
          <p:nvPr/>
        </p:nvSpPr>
        <p:spPr>
          <a:xfrm>
            <a:off x="892969" y="2518886"/>
            <a:ext cx="271462" cy="838677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3E2402-F385-9BAC-FE6F-8D63E428CBA5}"/>
              </a:ext>
            </a:extLst>
          </p:cNvPr>
          <p:cNvSpPr txBox="1"/>
          <p:nvPr/>
        </p:nvSpPr>
        <p:spPr>
          <a:xfrm>
            <a:off x="857250" y="3464719"/>
            <a:ext cx="392906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50%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8F020F-7DE6-0A4F-8268-09E290043867}"/>
              </a:ext>
            </a:extLst>
          </p:cNvPr>
          <p:cNvSpPr/>
          <p:nvPr/>
        </p:nvSpPr>
        <p:spPr>
          <a:xfrm>
            <a:off x="1285875" y="2231708"/>
            <a:ext cx="271463" cy="1125855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1E65066-B164-A8E3-43DE-6F9665A0DFD4}"/>
              </a:ext>
            </a:extLst>
          </p:cNvPr>
          <p:cNvSpPr txBox="1"/>
          <p:nvPr/>
        </p:nvSpPr>
        <p:spPr>
          <a:xfrm>
            <a:off x="1250156" y="3464719"/>
            <a:ext cx="392906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55%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48E109-2B9D-30C7-B1F9-85525BCAADB4}"/>
              </a:ext>
            </a:extLst>
          </p:cNvPr>
          <p:cNvSpPr/>
          <p:nvPr/>
        </p:nvSpPr>
        <p:spPr>
          <a:xfrm>
            <a:off x="1678781" y="2018824"/>
            <a:ext cx="271463" cy="1338739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D19F8E3-FB41-47C0-F107-C7FB8CDBCBDE}"/>
              </a:ext>
            </a:extLst>
          </p:cNvPr>
          <p:cNvSpPr txBox="1"/>
          <p:nvPr/>
        </p:nvSpPr>
        <p:spPr>
          <a:xfrm>
            <a:off x="1643063" y="3464719"/>
            <a:ext cx="392906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60%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431CD9-6B4B-624D-C885-661401E0387D}"/>
              </a:ext>
            </a:extLst>
          </p:cNvPr>
          <p:cNvSpPr/>
          <p:nvPr/>
        </p:nvSpPr>
        <p:spPr>
          <a:xfrm>
            <a:off x="2071688" y="1957388"/>
            <a:ext cx="271462" cy="1400175"/>
          </a:xfrm>
          <a:prstGeom prst="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C3F689B-FE79-C9DD-E1A0-90BCA0B7C6C5}"/>
              </a:ext>
            </a:extLst>
          </p:cNvPr>
          <p:cNvSpPr txBox="1"/>
          <p:nvPr/>
        </p:nvSpPr>
        <p:spPr>
          <a:xfrm>
            <a:off x="2035969" y="3464719"/>
            <a:ext cx="392906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67A7E70-53D9-44C7-29F5-C5766A9F70CF}"/>
              </a:ext>
            </a:extLst>
          </p:cNvPr>
          <p:cNvSpPr/>
          <p:nvPr/>
        </p:nvSpPr>
        <p:spPr>
          <a:xfrm>
            <a:off x="2464594" y="2010251"/>
            <a:ext cx="271462" cy="1347312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224A0A-436E-5ABB-7F1C-E637CA606B47}"/>
              </a:ext>
            </a:extLst>
          </p:cNvPr>
          <p:cNvSpPr txBox="1"/>
          <p:nvPr/>
        </p:nvSpPr>
        <p:spPr>
          <a:xfrm>
            <a:off x="2428875" y="3464719"/>
            <a:ext cx="392906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70%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C62E56D-4C81-F01F-5F18-772657E5260D}"/>
              </a:ext>
            </a:extLst>
          </p:cNvPr>
          <p:cNvSpPr/>
          <p:nvPr/>
        </p:nvSpPr>
        <p:spPr>
          <a:xfrm>
            <a:off x="2857500" y="2140267"/>
            <a:ext cx="271463" cy="1217296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A9B2B33-03A0-495F-6A8B-9540E1A29589}"/>
              </a:ext>
            </a:extLst>
          </p:cNvPr>
          <p:cNvSpPr txBox="1"/>
          <p:nvPr/>
        </p:nvSpPr>
        <p:spPr>
          <a:xfrm>
            <a:off x="2821781" y="3464719"/>
            <a:ext cx="392906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75%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A487E6B-819A-1267-9E54-1624CF3F8F05}"/>
              </a:ext>
            </a:extLst>
          </p:cNvPr>
          <p:cNvSpPr/>
          <p:nvPr/>
        </p:nvSpPr>
        <p:spPr>
          <a:xfrm>
            <a:off x="3250406" y="2341721"/>
            <a:ext cx="271463" cy="1015842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AC78F7C-C6B8-8FDE-464B-7526BAD09F72}"/>
              </a:ext>
            </a:extLst>
          </p:cNvPr>
          <p:cNvSpPr txBox="1"/>
          <p:nvPr/>
        </p:nvSpPr>
        <p:spPr>
          <a:xfrm>
            <a:off x="3214688" y="3464719"/>
            <a:ext cx="392906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80%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9225FC8-D87F-E18D-55E2-A23D54E288AF}"/>
              </a:ext>
            </a:extLst>
          </p:cNvPr>
          <p:cNvSpPr txBox="1"/>
          <p:nvPr/>
        </p:nvSpPr>
        <p:spPr>
          <a:xfrm>
            <a:off x="1821656" y="1928813"/>
            <a:ext cx="1214438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</a:t>
            </a:r>
            <a:r>
              <a:rPr lang="zh-CN" altLang="en-US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：</a:t>
            </a:r>
            <a:r>
              <a:rPr lang="en-US" altLang="zh-CN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9.80%</a:t>
            </a:r>
            <a:endParaRPr lang="zh-CN" altLang="en-US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AB8B19F-6EBC-6F0C-FCD0-0E5A96864938}"/>
              </a:ext>
            </a:extLst>
          </p:cNvPr>
          <p:cNvSpPr txBox="1"/>
          <p:nvPr/>
        </p:nvSpPr>
        <p:spPr>
          <a:xfrm>
            <a:off x="4679156" y="1428750"/>
            <a:ext cx="3000375" cy="31162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高度细扫（占空比固定 </a:t>
            </a:r>
            <a:r>
              <a:rPr lang="en-US" altLang="zh-CN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</a:t>
            </a:r>
            <a:r>
              <a:rPr lang="zh-CN" altLang="en-US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63AFE01-CDAC-CEBA-8BAA-92E4CA87952B}"/>
              </a:ext>
            </a:extLst>
          </p:cNvPr>
          <p:cNvSpPr/>
          <p:nvPr/>
        </p:nvSpPr>
        <p:spPr>
          <a:xfrm>
            <a:off x="4822031" y="2003108"/>
            <a:ext cx="392907" cy="1354455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19A50B-BFD7-9D61-63FE-4C05A1184D80}"/>
              </a:ext>
            </a:extLst>
          </p:cNvPr>
          <p:cNvSpPr txBox="1"/>
          <p:nvPr/>
        </p:nvSpPr>
        <p:spPr>
          <a:xfrm>
            <a:off x="4750594" y="3464719"/>
            <a:ext cx="535781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140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A070210-BCF2-C5EB-AD54-C415F772C09C}"/>
              </a:ext>
            </a:extLst>
          </p:cNvPr>
          <p:cNvSpPr/>
          <p:nvPr/>
        </p:nvSpPr>
        <p:spPr>
          <a:xfrm>
            <a:off x="5393531" y="1965960"/>
            <a:ext cx="392907" cy="1391603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212DE38-F571-5171-00E3-10EBE23FD188}"/>
              </a:ext>
            </a:extLst>
          </p:cNvPr>
          <p:cNvSpPr txBox="1"/>
          <p:nvPr/>
        </p:nvSpPr>
        <p:spPr>
          <a:xfrm>
            <a:off x="5322094" y="3464719"/>
            <a:ext cx="535781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150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07DC212-5071-DBC5-A7DE-A071E33E4E2A}"/>
              </a:ext>
            </a:extLst>
          </p:cNvPr>
          <p:cNvSpPr/>
          <p:nvPr/>
        </p:nvSpPr>
        <p:spPr>
          <a:xfrm>
            <a:off x="5965031" y="1957388"/>
            <a:ext cx="392907" cy="1400175"/>
          </a:xfrm>
          <a:prstGeom prst="rect">
            <a:avLst/>
          </a:prstGeom>
          <a:solidFill>
            <a:srgbClr val="0099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9C52AB6-5322-52D7-6637-759C832BD035}"/>
              </a:ext>
            </a:extLst>
          </p:cNvPr>
          <p:cNvSpPr txBox="1"/>
          <p:nvPr/>
        </p:nvSpPr>
        <p:spPr>
          <a:xfrm>
            <a:off x="5893594" y="3464719"/>
            <a:ext cx="535781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160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F84A8CC-A920-7A7B-D8FC-A6F5C917C0D5}"/>
              </a:ext>
            </a:extLst>
          </p:cNvPr>
          <p:cNvSpPr/>
          <p:nvPr/>
        </p:nvSpPr>
        <p:spPr>
          <a:xfrm>
            <a:off x="6536531" y="1975961"/>
            <a:ext cx="392907" cy="1381602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CCCEEFF-6F19-454D-EBC9-19AF04FF60C7}"/>
              </a:ext>
            </a:extLst>
          </p:cNvPr>
          <p:cNvSpPr txBox="1"/>
          <p:nvPr/>
        </p:nvSpPr>
        <p:spPr>
          <a:xfrm>
            <a:off x="6465094" y="3464719"/>
            <a:ext cx="535781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170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8144D5F-67E5-BB4D-666B-5110737A9FF5}"/>
              </a:ext>
            </a:extLst>
          </p:cNvPr>
          <p:cNvSpPr/>
          <p:nvPr/>
        </p:nvSpPr>
        <p:spPr>
          <a:xfrm>
            <a:off x="7108031" y="2018824"/>
            <a:ext cx="392907" cy="1338739"/>
          </a:xfrm>
          <a:prstGeom prst="rect">
            <a:avLst/>
          </a:prstGeom>
          <a:solidFill>
            <a:srgbClr val="CDD7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DE71B28-F47E-3C25-291B-CCA86BBF506B}"/>
              </a:ext>
            </a:extLst>
          </p:cNvPr>
          <p:cNvSpPr txBox="1"/>
          <p:nvPr/>
        </p:nvSpPr>
        <p:spPr>
          <a:xfrm>
            <a:off x="7036594" y="3464719"/>
            <a:ext cx="535781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180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700CC34-0006-0A28-37B6-0AB7A5A384E0}"/>
              </a:ext>
            </a:extLst>
          </p:cNvPr>
          <p:cNvSpPr txBox="1"/>
          <p:nvPr/>
        </p:nvSpPr>
        <p:spPr>
          <a:xfrm>
            <a:off x="5965031" y="1928813"/>
            <a:ext cx="1357313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b="1">
                <a:solidFill>
                  <a:srgbClr val="00999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160 nm</a:t>
            </a:r>
            <a:r>
              <a:rPr lang="zh-CN" altLang="en-US" b="1">
                <a:solidFill>
                  <a:srgbClr val="00999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：</a:t>
            </a:r>
            <a:r>
              <a:rPr lang="en-US" altLang="zh-CN" b="1">
                <a:solidFill>
                  <a:srgbClr val="00999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9.80%</a:t>
            </a:r>
            <a:endParaRPr lang="zh-CN" altLang="en-US" b="1">
              <a:solidFill>
                <a:srgbClr val="00999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CA79E34-439E-70DC-2196-85136E2D4B3A}"/>
              </a:ext>
            </a:extLst>
          </p:cNvPr>
          <p:cNvSpPr txBox="1"/>
          <p:nvPr/>
        </p:nvSpPr>
        <p:spPr>
          <a:xfrm>
            <a:off x="428625" y="4143375"/>
            <a:ext cx="7715250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容差观察：在 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 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下，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150 / 170 nm 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仍为 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9.74% / 9.67%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，对约 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±10 nm 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深度偏差并不陡峭。</a:t>
            </a:r>
          </a:p>
        </p:txBody>
      </p:sp>
    </p:spTree>
    <p:extLst>
      <p:ext uri="{BB962C8B-B14F-4D97-AF65-F5344CB8AC3E}">
        <p14:creationId xmlns:p14="http://schemas.microsoft.com/office/powerpoint/2010/main" val="3426023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18FB36-A4AA-8513-0DAA-DC45B92D30DF}"/>
              </a:ext>
            </a:extLst>
          </p:cNvPr>
          <p:cNvSpPr txBox="1"/>
          <p:nvPr/>
        </p:nvSpPr>
        <p:spPr>
          <a:xfrm>
            <a:off x="321469" y="171450"/>
            <a:ext cx="2357438" cy="21929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825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WAVEGUIDE • RCWA PHASE</a:t>
            </a:r>
            <a:endParaRPr lang="zh-CN" altLang="en-US" sz="825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DFB158-4DC3-0F26-7139-5C163F1062B3}"/>
              </a:ext>
            </a:extLst>
          </p:cNvPr>
          <p:cNvSpPr txBox="1"/>
          <p:nvPr/>
        </p:nvSpPr>
        <p:spPr>
          <a:xfrm>
            <a:off x="321469" y="371475"/>
            <a:ext cx="8072438" cy="4385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入射角改变时，</a:t>
            </a:r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+1 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级会出现截止与效率下降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BE87981-5EAE-7CC1-6571-370CE9C9EDE1}"/>
              </a:ext>
            </a:extLst>
          </p:cNvPr>
          <p:cNvCxnSpPr/>
          <p:nvPr/>
        </p:nvCxnSpPr>
        <p:spPr>
          <a:xfrm>
            <a:off x="321469" y="800100"/>
            <a:ext cx="8501062" cy="0"/>
          </a:xfrm>
          <a:prstGeom prst="line">
            <a:avLst/>
          </a:prstGeom>
          <a:ln w="6429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988F0B7-5630-73B5-C707-C834C5E1D02C}"/>
              </a:ext>
            </a:extLst>
          </p:cNvPr>
          <p:cNvSpPr txBox="1"/>
          <p:nvPr/>
        </p:nvSpPr>
        <p:spPr>
          <a:xfrm>
            <a:off x="7500938" y="4893469"/>
            <a:ext cx="1285875" cy="19620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r"/>
            <a:r>
              <a:rPr lang="en-US" altLang="zh-CN" sz="6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2026.08.13   |   05</a:t>
            </a:r>
            <a:endParaRPr lang="zh-CN" altLang="en-US" sz="675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3E7303-43AB-2728-B4ED-B2925E8A8775}"/>
              </a:ext>
            </a:extLst>
          </p:cNvPr>
          <p:cNvSpPr txBox="1"/>
          <p:nvPr/>
        </p:nvSpPr>
        <p:spPr>
          <a:xfrm>
            <a:off x="321469" y="964406"/>
            <a:ext cx="7572375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固定：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532 nm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 / 160 nm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TE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偏振。读数按级次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n=+1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自动匹配。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C6F9C04-079B-CE0C-026A-6349EB8D284B}"/>
              </a:ext>
            </a:extLst>
          </p:cNvPr>
          <p:cNvSpPr txBox="1"/>
          <p:nvPr/>
        </p:nvSpPr>
        <p:spPr>
          <a:xfrm>
            <a:off x="571500" y="3964781"/>
            <a:ext cx="642938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05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角度（</a:t>
            </a:r>
            <a:r>
              <a:rPr lang="en-US" altLang="zh-CN" sz="105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°</a:t>
            </a:r>
            <a:r>
              <a:rPr lang="zh-CN" altLang="en-US" sz="105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F345B55-A4CA-93C9-DA89-243339497A41}"/>
              </a:ext>
            </a:extLst>
          </p:cNvPr>
          <p:cNvSpPr txBox="1"/>
          <p:nvPr/>
        </p:nvSpPr>
        <p:spPr>
          <a:xfrm>
            <a:off x="628650" y="1464469"/>
            <a:ext cx="1000125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+1 </a:t>
            </a:r>
            <a:r>
              <a:rPr lang="zh-CN" altLang="en-US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级效率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E3B6DA9-8E77-C80E-74FE-ABA066EED9A1}"/>
              </a:ext>
            </a:extLst>
          </p:cNvPr>
          <p:cNvCxnSpPr/>
          <p:nvPr/>
        </p:nvCxnSpPr>
        <p:spPr>
          <a:xfrm>
            <a:off x="857250" y="3714750"/>
            <a:ext cx="6858000" cy="0"/>
          </a:xfrm>
          <a:prstGeom prst="line">
            <a:avLst/>
          </a:prstGeom>
          <a:ln w="7144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C3111FA-D452-7E8E-2513-415FC26869AA}"/>
              </a:ext>
            </a:extLst>
          </p:cNvPr>
          <p:cNvCxnSpPr/>
          <p:nvPr/>
        </p:nvCxnSpPr>
        <p:spPr>
          <a:xfrm>
            <a:off x="857250" y="1643063"/>
            <a:ext cx="0" cy="2071687"/>
          </a:xfrm>
          <a:prstGeom prst="line">
            <a:avLst/>
          </a:prstGeom>
          <a:ln w="7144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7D53451-7290-165F-F7D2-959B0373EA85}"/>
              </a:ext>
            </a:extLst>
          </p:cNvPr>
          <p:cNvSpPr/>
          <p:nvPr/>
        </p:nvSpPr>
        <p:spPr>
          <a:xfrm>
            <a:off x="1314450" y="1885950"/>
            <a:ext cx="85725" cy="85725"/>
          </a:xfrm>
          <a:prstGeom prst="round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3D7B5A9-EA41-DABE-D659-C8FF563C168F}"/>
              </a:ext>
            </a:extLst>
          </p:cNvPr>
          <p:cNvSpPr txBox="1"/>
          <p:nvPr/>
        </p:nvSpPr>
        <p:spPr>
          <a:xfrm>
            <a:off x="1271588" y="3821906"/>
            <a:ext cx="178594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105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</a:t>
            </a:r>
            <a:endParaRPr lang="zh-CN" altLang="en-US" sz="105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58CDF85-B3DE-BFB3-A76C-2D5E4C7DACE0}"/>
              </a:ext>
            </a:extLst>
          </p:cNvPr>
          <p:cNvSpPr txBox="1"/>
          <p:nvPr/>
        </p:nvSpPr>
        <p:spPr>
          <a:xfrm>
            <a:off x="1157288" y="1671638"/>
            <a:ext cx="414338" cy="24237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7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12.50%</a:t>
            </a:r>
            <a:endParaRPr lang="zh-CN" altLang="en-US" sz="975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E12F083-4132-103D-AB65-4F905E50A372}"/>
              </a:ext>
            </a:extLst>
          </p:cNvPr>
          <p:cNvSpPr/>
          <p:nvPr/>
        </p:nvSpPr>
        <p:spPr>
          <a:xfrm>
            <a:off x="2671763" y="2027396"/>
            <a:ext cx="85725" cy="85725"/>
          </a:xfrm>
          <a:prstGeom prst="round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3194A24-F8B2-1756-99E2-52B17CFC162C}"/>
              </a:ext>
            </a:extLst>
          </p:cNvPr>
          <p:cNvCxnSpPr/>
          <p:nvPr/>
        </p:nvCxnSpPr>
        <p:spPr>
          <a:xfrm>
            <a:off x="1357313" y="1928813"/>
            <a:ext cx="1357312" cy="141446"/>
          </a:xfrm>
          <a:prstGeom prst="line">
            <a:avLst/>
          </a:prstGeom>
          <a:ln w="15716">
            <a:solidFill>
              <a:srgbClr val="2B79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EE4236D-3BC0-0832-6487-4BCBD747117D}"/>
              </a:ext>
            </a:extLst>
          </p:cNvPr>
          <p:cNvSpPr txBox="1"/>
          <p:nvPr/>
        </p:nvSpPr>
        <p:spPr>
          <a:xfrm>
            <a:off x="2628900" y="3821906"/>
            <a:ext cx="178594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105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10</a:t>
            </a:r>
            <a:endParaRPr lang="zh-CN" altLang="en-US" sz="105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E5BC3B9-3AF4-CB0F-DC33-4BBE7E7B9F04}"/>
              </a:ext>
            </a:extLst>
          </p:cNvPr>
          <p:cNvSpPr txBox="1"/>
          <p:nvPr/>
        </p:nvSpPr>
        <p:spPr>
          <a:xfrm>
            <a:off x="2514600" y="1813084"/>
            <a:ext cx="414338" cy="24237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7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11.51%</a:t>
            </a:r>
            <a:endParaRPr lang="zh-CN" altLang="en-US" sz="975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11BD768-88FF-3BB6-5087-0F3AF860D1EC}"/>
              </a:ext>
            </a:extLst>
          </p:cNvPr>
          <p:cNvSpPr/>
          <p:nvPr/>
        </p:nvSpPr>
        <p:spPr>
          <a:xfrm>
            <a:off x="4029075" y="2271713"/>
            <a:ext cx="85725" cy="85725"/>
          </a:xfrm>
          <a:prstGeom prst="round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1E77C4D-3A86-509D-347F-A084BB510BD6}"/>
              </a:ext>
            </a:extLst>
          </p:cNvPr>
          <p:cNvCxnSpPr/>
          <p:nvPr/>
        </p:nvCxnSpPr>
        <p:spPr>
          <a:xfrm>
            <a:off x="2714625" y="2070259"/>
            <a:ext cx="1357313" cy="244316"/>
          </a:xfrm>
          <a:prstGeom prst="line">
            <a:avLst/>
          </a:prstGeom>
          <a:ln w="15716">
            <a:solidFill>
              <a:srgbClr val="2B79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B77CE42-09C4-DDFF-71E9-303CA9BECCEC}"/>
              </a:ext>
            </a:extLst>
          </p:cNvPr>
          <p:cNvSpPr txBox="1"/>
          <p:nvPr/>
        </p:nvSpPr>
        <p:spPr>
          <a:xfrm>
            <a:off x="3986213" y="3821906"/>
            <a:ext cx="178594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105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15</a:t>
            </a:r>
            <a:endParaRPr lang="zh-CN" altLang="en-US" sz="105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CDF7BE-19E1-15F8-3329-B2BAF6552086}"/>
              </a:ext>
            </a:extLst>
          </p:cNvPr>
          <p:cNvSpPr txBox="1"/>
          <p:nvPr/>
        </p:nvSpPr>
        <p:spPr>
          <a:xfrm>
            <a:off x="3871913" y="2057400"/>
            <a:ext cx="414338" cy="24237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7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9.80%</a:t>
            </a:r>
            <a:endParaRPr lang="zh-CN" altLang="en-US" sz="975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48D1CB2-5D5F-4A96-46AE-BEF488C42CBF}"/>
              </a:ext>
            </a:extLst>
          </p:cNvPr>
          <p:cNvSpPr/>
          <p:nvPr/>
        </p:nvSpPr>
        <p:spPr>
          <a:xfrm>
            <a:off x="5386388" y="2683192"/>
            <a:ext cx="85725" cy="85725"/>
          </a:xfrm>
          <a:prstGeom prst="round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3B865E6-E782-27A9-9AAD-03357BC16B11}"/>
              </a:ext>
            </a:extLst>
          </p:cNvPr>
          <p:cNvCxnSpPr/>
          <p:nvPr/>
        </p:nvCxnSpPr>
        <p:spPr>
          <a:xfrm>
            <a:off x="4071938" y="2314575"/>
            <a:ext cx="1357312" cy="411480"/>
          </a:xfrm>
          <a:prstGeom prst="line">
            <a:avLst/>
          </a:prstGeom>
          <a:ln w="15716">
            <a:solidFill>
              <a:srgbClr val="2B79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5EBED560-07A9-A059-D1CA-9FA799513B14}"/>
              </a:ext>
            </a:extLst>
          </p:cNvPr>
          <p:cNvSpPr txBox="1"/>
          <p:nvPr/>
        </p:nvSpPr>
        <p:spPr>
          <a:xfrm>
            <a:off x="5343525" y="3821906"/>
            <a:ext cx="178594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105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</a:t>
            </a:r>
            <a:endParaRPr lang="zh-CN" altLang="en-US" sz="105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4DC83AB-A3A3-2A68-998E-0DBC03FAEBDB}"/>
              </a:ext>
            </a:extLst>
          </p:cNvPr>
          <p:cNvSpPr txBox="1"/>
          <p:nvPr/>
        </p:nvSpPr>
        <p:spPr>
          <a:xfrm>
            <a:off x="5229225" y="2468880"/>
            <a:ext cx="414338" cy="24237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7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6.92%</a:t>
            </a:r>
            <a:endParaRPr lang="zh-CN" altLang="en-US" sz="975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D67FDCE-0246-064C-D5CE-2BC2F744B4D2}"/>
              </a:ext>
            </a:extLst>
          </p:cNvPr>
          <p:cNvSpPr/>
          <p:nvPr/>
        </p:nvSpPr>
        <p:spPr>
          <a:xfrm>
            <a:off x="6743700" y="3671888"/>
            <a:ext cx="85725" cy="85725"/>
          </a:xfrm>
          <a:prstGeom prst="round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DADAAD4-59FD-83B9-DACB-3239793FAE4A}"/>
              </a:ext>
            </a:extLst>
          </p:cNvPr>
          <p:cNvCxnSpPr/>
          <p:nvPr/>
        </p:nvCxnSpPr>
        <p:spPr>
          <a:xfrm>
            <a:off x="5429250" y="2726055"/>
            <a:ext cx="1357313" cy="988695"/>
          </a:xfrm>
          <a:prstGeom prst="line">
            <a:avLst/>
          </a:prstGeom>
          <a:ln w="15716">
            <a:solidFill>
              <a:srgbClr val="2B79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75D55E31-5D28-DE31-7A98-A6D1D92A36A1}"/>
              </a:ext>
            </a:extLst>
          </p:cNvPr>
          <p:cNvSpPr txBox="1"/>
          <p:nvPr/>
        </p:nvSpPr>
        <p:spPr>
          <a:xfrm>
            <a:off x="6700838" y="3821906"/>
            <a:ext cx="178594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105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25</a:t>
            </a:r>
            <a:endParaRPr lang="zh-CN" altLang="en-US" sz="105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40A9732-994A-6109-0004-E0E5A00A042F}"/>
              </a:ext>
            </a:extLst>
          </p:cNvPr>
          <p:cNvSpPr txBox="1"/>
          <p:nvPr/>
        </p:nvSpPr>
        <p:spPr>
          <a:xfrm>
            <a:off x="6586538" y="3457575"/>
            <a:ext cx="414338" cy="242374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7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0.00%</a:t>
            </a:r>
            <a:endParaRPr lang="zh-CN" altLang="en-US" sz="975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8449A85-B544-22B7-5FC3-068581A0EC76}"/>
              </a:ext>
            </a:extLst>
          </p:cNvPr>
          <p:cNvSpPr/>
          <p:nvPr/>
        </p:nvSpPr>
        <p:spPr>
          <a:xfrm>
            <a:off x="5500688" y="1785938"/>
            <a:ext cx="2500312" cy="964406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0E16D26-AA90-7895-72A0-AD2F13411D2D}"/>
              </a:ext>
            </a:extLst>
          </p:cNvPr>
          <p:cNvSpPr txBox="1"/>
          <p:nvPr/>
        </p:nvSpPr>
        <p:spPr>
          <a:xfrm>
            <a:off x="5715000" y="1964531"/>
            <a:ext cx="1428750" cy="34624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6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工程含义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A42907A-43B1-113A-00BC-67D28CDFFE11}"/>
              </a:ext>
            </a:extLst>
          </p:cNvPr>
          <p:cNvSpPr txBox="1"/>
          <p:nvPr/>
        </p:nvSpPr>
        <p:spPr>
          <a:xfrm>
            <a:off x="5715000" y="2250281"/>
            <a:ext cx="2035969" cy="83099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效率不能脱离系统入射角单独优化。</a:t>
            </a:r>
            <a:r>
              <a:rPr lang="en-US" altLang="zh-CN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25° </a:t>
            </a:r>
            <a:r>
              <a:rPr lang="zh-CN" altLang="en-US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时 </a:t>
            </a:r>
            <a:r>
              <a:rPr lang="en-US" altLang="zh-CN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+1 </a:t>
            </a:r>
            <a:r>
              <a:rPr lang="zh-CN" altLang="en-US" sz="12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级截止；实际设计角需由耦入与波导几何共同确定。</a:t>
            </a:r>
          </a:p>
        </p:txBody>
      </p:sp>
    </p:spTree>
    <p:extLst>
      <p:ext uri="{BB962C8B-B14F-4D97-AF65-F5344CB8AC3E}">
        <p14:creationId xmlns:p14="http://schemas.microsoft.com/office/powerpoint/2010/main" val="697363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FFE03D0-3B6A-B263-CFE5-A66A6395C317}"/>
              </a:ext>
            </a:extLst>
          </p:cNvPr>
          <p:cNvSpPr txBox="1"/>
          <p:nvPr/>
        </p:nvSpPr>
        <p:spPr>
          <a:xfrm>
            <a:off x="321469" y="171450"/>
            <a:ext cx="2357438" cy="21929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825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WAVEGUIDE • RCWA PHASE</a:t>
            </a:r>
            <a:endParaRPr lang="zh-CN" altLang="en-US" sz="825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8B3C455-8938-46EE-9E60-2EC304488457}"/>
              </a:ext>
            </a:extLst>
          </p:cNvPr>
          <p:cNvSpPr txBox="1"/>
          <p:nvPr/>
        </p:nvSpPr>
        <p:spPr>
          <a:xfrm>
            <a:off x="321469" y="371475"/>
            <a:ext cx="8072438" cy="4385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单周期光栅对波长高度敏感，红光在 </a:t>
            </a:r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620 nm 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截止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A1ED613-10F6-7FF0-4CD2-7ACF17329167}"/>
              </a:ext>
            </a:extLst>
          </p:cNvPr>
          <p:cNvCxnSpPr/>
          <p:nvPr/>
        </p:nvCxnSpPr>
        <p:spPr>
          <a:xfrm>
            <a:off x="321469" y="800100"/>
            <a:ext cx="8501062" cy="0"/>
          </a:xfrm>
          <a:prstGeom prst="line">
            <a:avLst/>
          </a:prstGeom>
          <a:ln w="6429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65AD9A1-8439-7EF7-8494-8841ADBEEA10}"/>
              </a:ext>
            </a:extLst>
          </p:cNvPr>
          <p:cNvSpPr txBox="1"/>
          <p:nvPr/>
        </p:nvSpPr>
        <p:spPr>
          <a:xfrm>
            <a:off x="7500938" y="4893469"/>
            <a:ext cx="1285875" cy="19620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r"/>
            <a:r>
              <a:rPr lang="en-US" altLang="zh-CN" sz="6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2026.08.13   |   06</a:t>
            </a:r>
            <a:endParaRPr lang="zh-CN" altLang="en-US" sz="675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48F140-1E38-4508-6A45-A71A11C0742F}"/>
              </a:ext>
            </a:extLst>
          </p:cNvPr>
          <p:cNvSpPr txBox="1"/>
          <p:nvPr/>
        </p:nvSpPr>
        <p:spPr>
          <a:xfrm>
            <a:off x="321469" y="964406"/>
            <a:ext cx="7858125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固定：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θ=15°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 / 160 nm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TE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偏振。每次运行强制锁定角度与波长。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AC330B-7EC1-07E7-38E1-6859BD109668}"/>
              </a:ext>
            </a:extLst>
          </p:cNvPr>
          <p:cNvSpPr/>
          <p:nvPr/>
        </p:nvSpPr>
        <p:spPr>
          <a:xfrm>
            <a:off x="714375" y="1727359"/>
            <a:ext cx="500063" cy="1915954"/>
          </a:xfrm>
          <a:prstGeom prst="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4CE563-8B11-10AA-D1CD-08CEE907BCDF}"/>
              </a:ext>
            </a:extLst>
          </p:cNvPr>
          <p:cNvSpPr txBox="1"/>
          <p:nvPr/>
        </p:nvSpPr>
        <p:spPr>
          <a:xfrm>
            <a:off x="678656" y="3786188"/>
            <a:ext cx="5715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460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5F2291-BFCD-2AFF-6C9C-F6EEF65E7F1E}"/>
              </a:ext>
            </a:extLst>
          </p:cNvPr>
          <p:cNvSpPr txBox="1"/>
          <p:nvPr/>
        </p:nvSpPr>
        <p:spPr>
          <a:xfrm>
            <a:off x="750094" y="1584484"/>
            <a:ext cx="428625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22.4%</a:t>
            </a:r>
            <a:endParaRPr lang="zh-CN" altLang="en-US" sz="9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32C6774-FEF0-551C-F6E4-BF359F8ABC3A}"/>
              </a:ext>
            </a:extLst>
          </p:cNvPr>
          <p:cNvSpPr/>
          <p:nvPr/>
        </p:nvSpPr>
        <p:spPr>
          <a:xfrm>
            <a:off x="1750219" y="2203990"/>
            <a:ext cx="500062" cy="1439323"/>
          </a:xfrm>
          <a:prstGeom prst="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B02672-5D81-7BB0-9748-673E9D4CA4DF}"/>
              </a:ext>
            </a:extLst>
          </p:cNvPr>
          <p:cNvSpPr txBox="1"/>
          <p:nvPr/>
        </p:nvSpPr>
        <p:spPr>
          <a:xfrm>
            <a:off x="1714500" y="3786188"/>
            <a:ext cx="5715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490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4B9B53-44BE-67C4-340F-3BD06C88C5AC}"/>
              </a:ext>
            </a:extLst>
          </p:cNvPr>
          <p:cNvSpPr txBox="1"/>
          <p:nvPr/>
        </p:nvSpPr>
        <p:spPr>
          <a:xfrm>
            <a:off x="1785938" y="2061115"/>
            <a:ext cx="428625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16.8%</a:t>
            </a:r>
            <a:endParaRPr lang="zh-CN" altLang="en-US" sz="9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EB70C3-01E2-CDBD-7EFC-88250FF98AA1}"/>
              </a:ext>
            </a:extLst>
          </p:cNvPr>
          <p:cNvSpPr/>
          <p:nvPr/>
        </p:nvSpPr>
        <p:spPr>
          <a:xfrm>
            <a:off x="2786063" y="2649760"/>
            <a:ext cx="500062" cy="993553"/>
          </a:xfrm>
          <a:prstGeom prst="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B8F5C54-0564-0ABC-0942-8460C97C41C2}"/>
              </a:ext>
            </a:extLst>
          </p:cNvPr>
          <p:cNvSpPr txBox="1"/>
          <p:nvPr/>
        </p:nvSpPr>
        <p:spPr>
          <a:xfrm>
            <a:off x="2750344" y="3786188"/>
            <a:ext cx="5715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520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957FE7B-2025-BC5D-A9F1-4982CF06337E}"/>
              </a:ext>
            </a:extLst>
          </p:cNvPr>
          <p:cNvSpPr txBox="1"/>
          <p:nvPr/>
        </p:nvSpPr>
        <p:spPr>
          <a:xfrm>
            <a:off x="2821781" y="2506885"/>
            <a:ext cx="428625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11.6%</a:t>
            </a:r>
            <a:endParaRPr lang="zh-CN" altLang="en-US" sz="9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81B8FE-8289-8BEA-B8C6-CF5027A4275D}"/>
              </a:ext>
            </a:extLst>
          </p:cNvPr>
          <p:cNvSpPr/>
          <p:nvPr/>
        </p:nvSpPr>
        <p:spPr>
          <a:xfrm>
            <a:off x="3821906" y="2803208"/>
            <a:ext cx="500063" cy="840105"/>
          </a:xfrm>
          <a:prstGeom prst="rect">
            <a:avLst/>
          </a:prstGeom>
          <a:solidFill>
            <a:srgbClr val="0099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110C76-F68A-DCC9-4169-89BE43B95760}"/>
              </a:ext>
            </a:extLst>
          </p:cNvPr>
          <p:cNvSpPr txBox="1"/>
          <p:nvPr/>
        </p:nvSpPr>
        <p:spPr>
          <a:xfrm>
            <a:off x="3786188" y="3786188"/>
            <a:ext cx="5715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532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1147C23-C32B-97A5-D3A2-805FE04DF415}"/>
              </a:ext>
            </a:extLst>
          </p:cNvPr>
          <p:cNvSpPr txBox="1"/>
          <p:nvPr/>
        </p:nvSpPr>
        <p:spPr>
          <a:xfrm>
            <a:off x="3857625" y="2660333"/>
            <a:ext cx="428625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9.8%</a:t>
            </a:r>
            <a:endParaRPr lang="zh-CN" altLang="en-US" sz="9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E7059DF-122A-DE87-2DE9-6EF0CB50D7A6}"/>
              </a:ext>
            </a:extLst>
          </p:cNvPr>
          <p:cNvSpPr/>
          <p:nvPr/>
        </p:nvSpPr>
        <p:spPr>
          <a:xfrm>
            <a:off x="4857750" y="3019235"/>
            <a:ext cx="500063" cy="624078"/>
          </a:xfrm>
          <a:prstGeom prst="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63A838B-EA8C-DA6C-9B65-F0393A66B163}"/>
              </a:ext>
            </a:extLst>
          </p:cNvPr>
          <p:cNvSpPr txBox="1"/>
          <p:nvPr/>
        </p:nvSpPr>
        <p:spPr>
          <a:xfrm>
            <a:off x="4822031" y="3786188"/>
            <a:ext cx="5715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550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D33B172-B96E-02F7-127D-61638BDE8AC7}"/>
              </a:ext>
            </a:extLst>
          </p:cNvPr>
          <p:cNvSpPr txBox="1"/>
          <p:nvPr/>
        </p:nvSpPr>
        <p:spPr>
          <a:xfrm>
            <a:off x="4893469" y="2876360"/>
            <a:ext cx="428625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7.3%</a:t>
            </a:r>
            <a:endParaRPr lang="zh-CN" altLang="en-US" sz="9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8E56B46-F007-E116-88BA-A0A87F880F1D}"/>
              </a:ext>
            </a:extLst>
          </p:cNvPr>
          <p:cNvSpPr/>
          <p:nvPr/>
        </p:nvSpPr>
        <p:spPr>
          <a:xfrm>
            <a:off x="5893594" y="3351847"/>
            <a:ext cx="500062" cy="291466"/>
          </a:xfrm>
          <a:prstGeom prst="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12C66DF-3C5F-E87B-1BB8-981EFCE8DC76}"/>
              </a:ext>
            </a:extLst>
          </p:cNvPr>
          <p:cNvSpPr txBox="1"/>
          <p:nvPr/>
        </p:nvSpPr>
        <p:spPr>
          <a:xfrm>
            <a:off x="5857875" y="3786188"/>
            <a:ext cx="5715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580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03E579C-DE00-76A7-BD2E-61116A136242}"/>
              </a:ext>
            </a:extLst>
          </p:cNvPr>
          <p:cNvSpPr txBox="1"/>
          <p:nvPr/>
        </p:nvSpPr>
        <p:spPr>
          <a:xfrm>
            <a:off x="5929313" y="3208973"/>
            <a:ext cx="428625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3.4%</a:t>
            </a:r>
            <a:endParaRPr lang="zh-CN" altLang="en-US" sz="9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6125BEA-CA9F-2DF9-77D0-F9B5AE4BE7E8}"/>
              </a:ext>
            </a:extLst>
          </p:cNvPr>
          <p:cNvSpPr/>
          <p:nvPr/>
        </p:nvSpPr>
        <p:spPr>
          <a:xfrm>
            <a:off x="6929438" y="3643313"/>
            <a:ext cx="500062" cy="0"/>
          </a:xfrm>
          <a:prstGeom prst="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114DEB0-5928-6759-15C7-DD717301F04F}"/>
              </a:ext>
            </a:extLst>
          </p:cNvPr>
          <p:cNvSpPr txBox="1"/>
          <p:nvPr/>
        </p:nvSpPr>
        <p:spPr>
          <a:xfrm>
            <a:off x="6893719" y="3786188"/>
            <a:ext cx="571500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620 nm</a:t>
            </a:r>
            <a:endParaRPr lang="zh-CN" altLang="en-US" sz="900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CF2FF6D-063F-91E3-F8CD-3E40717E50CD}"/>
              </a:ext>
            </a:extLst>
          </p:cNvPr>
          <p:cNvSpPr txBox="1"/>
          <p:nvPr/>
        </p:nvSpPr>
        <p:spPr>
          <a:xfrm>
            <a:off x="6965156" y="3500438"/>
            <a:ext cx="428625" cy="2308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9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0.0%</a:t>
            </a:r>
            <a:endParaRPr lang="zh-CN" altLang="en-US" sz="9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B64740-F0FD-D2A9-F8EF-6D6295965562}"/>
              </a:ext>
            </a:extLst>
          </p:cNvPr>
          <p:cNvSpPr txBox="1"/>
          <p:nvPr/>
        </p:nvSpPr>
        <p:spPr>
          <a:xfrm>
            <a:off x="500063" y="4357688"/>
            <a:ext cx="7500938" cy="32316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5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蓝光强、绿光可用、红光截止：这是色偏与彩虹纹风险的直接数值证据。</a:t>
            </a:r>
          </a:p>
        </p:txBody>
      </p:sp>
    </p:spTree>
    <p:extLst>
      <p:ext uri="{BB962C8B-B14F-4D97-AF65-F5344CB8AC3E}">
        <p14:creationId xmlns:p14="http://schemas.microsoft.com/office/powerpoint/2010/main" val="414506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1F4358-F8F4-8DA3-0BC1-41D7F8472F11}"/>
              </a:ext>
            </a:extLst>
          </p:cNvPr>
          <p:cNvSpPr txBox="1"/>
          <p:nvPr/>
        </p:nvSpPr>
        <p:spPr>
          <a:xfrm>
            <a:off x="321469" y="171450"/>
            <a:ext cx="2357438" cy="21929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825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WAVEGUIDE • RCWA PHASE</a:t>
            </a:r>
            <a:endParaRPr lang="zh-CN" altLang="en-US" sz="825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1AB56C-2DF3-CEA9-B8CE-37A4050EB591}"/>
              </a:ext>
            </a:extLst>
          </p:cNvPr>
          <p:cNvSpPr txBox="1"/>
          <p:nvPr/>
        </p:nvSpPr>
        <p:spPr>
          <a:xfrm>
            <a:off x="321469" y="371475"/>
            <a:ext cx="8072438" cy="4385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RGB </a:t>
            </a:r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要在同一波导角传播，必须使用不同周期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DB9B773-60F6-C297-D7D8-F115A212089F}"/>
              </a:ext>
            </a:extLst>
          </p:cNvPr>
          <p:cNvCxnSpPr/>
          <p:nvPr/>
        </p:nvCxnSpPr>
        <p:spPr>
          <a:xfrm>
            <a:off x="321469" y="800100"/>
            <a:ext cx="8501062" cy="0"/>
          </a:xfrm>
          <a:prstGeom prst="line">
            <a:avLst/>
          </a:prstGeom>
          <a:ln w="6429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4C46CCA-AA85-9471-2E5B-9D51C7892933}"/>
              </a:ext>
            </a:extLst>
          </p:cNvPr>
          <p:cNvSpPr txBox="1"/>
          <p:nvPr/>
        </p:nvSpPr>
        <p:spPr>
          <a:xfrm>
            <a:off x="7500938" y="4893469"/>
            <a:ext cx="1285875" cy="19620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r"/>
            <a:r>
              <a:rPr lang="en-US" altLang="zh-CN" sz="6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2026.08.13   |   07</a:t>
            </a:r>
            <a:endParaRPr lang="zh-CN" altLang="en-US" sz="675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170A18-ED2C-BD84-8321-138D627A376C}"/>
              </a:ext>
            </a:extLst>
          </p:cNvPr>
          <p:cNvSpPr txBox="1"/>
          <p:nvPr/>
        </p:nvSpPr>
        <p:spPr>
          <a:xfrm>
            <a:off x="321469" y="964406"/>
            <a:ext cx="6643688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以绿光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532 nm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的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+1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级传播角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65.44°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为目标角：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2A3A61E-AC44-EFF4-2D66-ADC78994BD34}"/>
              </a:ext>
            </a:extLst>
          </p:cNvPr>
          <p:cNvSpPr txBox="1"/>
          <p:nvPr/>
        </p:nvSpPr>
        <p:spPr>
          <a:xfrm>
            <a:off x="571500" y="1464469"/>
            <a:ext cx="5429250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1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sin </a:t>
            </a:r>
            <a:r>
              <a:rPr lang="el-GR" altLang="zh-CN" sz="21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θ+1 = [</a:t>
            </a:r>
            <a:r>
              <a:rPr lang="en-US" altLang="zh-CN" sz="21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sin </a:t>
            </a:r>
            <a:r>
              <a:rPr lang="el-GR" altLang="zh-CN" sz="21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θ</a:t>
            </a:r>
            <a:r>
              <a:rPr lang="en-US" altLang="zh-CN" sz="21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in + </a:t>
            </a:r>
            <a:r>
              <a:rPr lang="el-GR" altLang="zh-CN" sz="21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λ / Λ] / </a:t>
            </a:r>
            <a:r>
              <a:rPr lang="en-US" altLang="zh-CN" sz="21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ncore</a:t>
            </a:r>
            <a:endParaRPr lang="zh-CN" altLang="en-US" sz="21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B7F1B3-9DED-8261-7295-BCF2A52B7F1C}"/>
              </a:ext>
            </a:extLst>
          </p:cNvPr>
          <p:cNvSpPr txBox="1"/>
          <p:nvPr/>
        </p:nvSpPr>
        <p:spPr>
          <a:xfrm>
            <a:off x="571500" y="1857375"/>
            <a:ext cx="6429375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ncore = 1.8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</a:t>
            </a:r>
            <a:r>
              <a:rPr lang="el-GR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θ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in = 15°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；临界角 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= 33.75°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；绿光 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+1 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级角 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= 65.44°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D647088-2E33-1114-8D3A-93B477FB3B94}"/>
              </a:ext>
            </a:extLst>
          </p:cNvPr>
          <p:cNvSpPr/>
          <p:nvPr/>
        </p:nvSpPr>
        <p:spPr>
          <a:xfrm>
            <a:off x="571500" y="2536031"/>
            <a:ext cx="2214563" cy="1035844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9D911A-764B-C05B-A8C0-CDC7562BE5FA}"/>
              </a:ext>
            </a:extLst>
          </p:cNvPr>
          <p:cNvSpPr/>
          <p:nvPr/>
        </p:nvSpPr>
        <p:spPr>
          <a:xfrm>
            <a:off x="571500" y="2536031"/>
            <a:ext cx="71438" cy="1035844"/>
          </a:xfrm>
          <a:prstGeom prst="rect">
            <a:avLst/>
          </a:prstGeom>
          <a:solidFill>
            <a:srgbClr val="2B79D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E4EF306-23F1-54C9-07C2-2FBE0C92A95C}"/>
              </a:ext>
            </a:extLst>
          </p:cNvPr>
          <p:cNvSpPr txBox="1"/>
          <p:nvPr/>
        </p:nvSpPr>
        <p:spPr>
          <a:xfrm>
            <a:off x="800100" y="2750344"/>
            <a:ext cx="1571625" cy="32316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5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蓝 </a:t>
            </a:r>
            <a:r>
              <a:rPr lang="en-US" altLang="zh-CN" sz="15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460 nm</a:t>
            </a:r>
            <a:endParaRPr lang="zh-CN" altLang="en-US" sz="15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2FFBE7-DCA1-2F2A-B5F2-A813EBE40166}"/>
              </a:ext>
            </a:extLst>
          </p:cNvPr>
          <p:cNvSpPr txBox="1"/>
          <p:nvPr/>
        </p:nvSpPr>
        <p:spPr>
          <a:xfrm>
            <a:off x="800100" y="3036094"/>
            <a:ext cx="1571625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1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333.75 nm</a:t>
            </a:r>
            <a:endParaRPr lang="zh-CN" altLang="en-US" sz="2100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E729ED8-98BC-D4D3-EE85-45BA6E81923A}"/>
              </a:ext>
            </a:extLst>
          </p:cNvPr>
          <p:cNvSpPr/>
          <p:nvPr/>
        </p:nvSpPr>
        <p:spPr>
          <a:xfrm>
            <a:off x="3143250" y="2536031"/>
            <a:ext cx="2214563" cy="1035844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FE375D-9CC8-B1CD-D93C-6EC841C28D6A}"/>
              </a:ext>
            </a:extLst>
          </p:cNvPr>
          <p:cNvSpPr/>
          <p:nvPr/>
        </p:nvSpPr>
        <p:spPr>
          <a:xfrm>
            <a:off x="3143250" y="2536031"/>
            <a:ext cx="71438" cy="1035844"/>
          </a:xfrm>
          <a:prstGeom prst="rect">
            <a:avLst/>
          </a:prstGeom>
          <a:solidFill>
            <a:srgbClr val="0099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2D41FC-F7F6-D6B5-3516-E5A2733E894D}"/>
              </a:ext>
            </a:extLst>
          </p:cNvPr>
          <p:cNvSpPr txBox="1"/>
          <p:nvPr/>
        </p:nvSpPr>
        <p:spPr>
          <a:xfrm>
            <a:off x="3371850" y="2750344"/>
            <a:ext cx="1571625" cy="32316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5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绿 </a:t>
            </a:r>
            <a:r>
              <a:rPr lang="en-US" altLang="zh-CN" sz="15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532 nm</a:t>
            </a:r>
            <a:endParaRPr lang="zh-CN" altLang="en-US" sz="15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880A1AF-470A-6E3E-8845-905143EDA51B}"/>
              </a:ext>
            </a:extLst>
          </p:cNvPr>
          <p:cNvSpPr txBox="1"/>
          <p:nvPr/>
        </p:nvSpPr>
        <p:spPr>
          <a:xfrm>
            <a:off x="3371850" y="3036094"/>
            <a:ext cx="1571625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100" b="1">
                <a:solidFill>
                  <a:srgbClr val="009999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385.99 nm</a:t>
            </a:r>
            <a:endParaRPr lang="zh-CN" altLang="en-US" sz="2100" b="1">
              <a:solidFill>
                <a:srgbClr val="009999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3120B23-32F9-E964-86DF-B2C010AE32A5}"/>
              </a:ext>
            </a:extLst>
          </p:cNvPr>
          <p:cNvSpPr/>
          <p:nvPr/>
        </p:nvSpPr>
        <p:spPr>
          <a:xfrm>
            <a:off x="5715000" y="2536031"/>
            <a:ext cx="2214563" cy="1035844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5ABB81F-232A-A9E8-9C54-7659239C02B1}"/>
              </a:ext>
            </a:extLst>
          </p:cNvPr>
          <p:cNvSpPr/>
          <p:nvPr/>
        </p:nvSpPr>
        <p:spPr>
          <a:xfrm>
            <a:off x="5715000" y="2536031"/>
            <a:ext cx="71438" cy="1035844"/>
          </a:xfrm>
          <a:prstGeom prst="rect">
            <a:avLst/>
          </a:prstGeom>
          <a:solidFill>
            <a:srgbClr val="000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5375316-0639-303E-B827-00AB389644E1}"/>
              </a:ext>
            </a:extLst>
          </p:cNvPr>
          <p:cNvSpPr txBox="1"/>
          <p:nvPr/>
        </p:nvSpPr>
        <p:spPr>
          <a:xfrm>
            <a:off x="5943600" y="2750344"/>
            <a:ext cx="1571625" cy="32316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5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红 </a:t>
            </a:r>
            <a:r>
              <a:rPr lang="en-US" altLang="zh-CN" sz="15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620 nm</a:t>
            </a:r>
            <a:endParaRPr lang="zh-CN" altLang="en-US" sz="1500" b="1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F532E37-E744-4D90-B578-A221A43BBAEB}"/>
              </a:ext>
            </a:extLst>
          </p:cNvPr>
          <p:cNvSpPr txBox="1"/>
          <p:nvPr/>
        </p:nvSpPr>
        <p:spPr>
          <a:xfrm>
            <a:off x="5943600" y="3036094"/>
            <a:ext cx="1571625" cy="41549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2100" b="1">
                <a:solidFill>
                  <a:srgbClr val="0000FF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449.84 nm</a:t>
            </a:r>
            <a:endParaRPr lang="zh-CN" altLang="en-US" sz="2100" b="1">
              <a:solidFill>
                <a:srgbClr val="0000FF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8F7D210-F936-7BC7-A119-9D375E95F014}"/>
              </a:ext>
            </a:extLst>
          </p:cNvPr>
          <p:cNvSpPr txBox="1"/>
          <p:nvPr/>
        </p:nvSpPr>
        <p:spPr>
          <a:xfrm>
            <a:off x="571500" y="4036219"/>
            <a:ext cx="7643813" cy="530915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结论：一个 </a:t>
            </a:r>
            <a:r>
              <a:rPr lang="en-US" altLang="zh-CN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386 nm </a:t>
            </a:r>
            <a:r>
              <a:rPr lang="zh-CN" altLang="en-US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单周期光栅只对绿光匹配；</a:t>
            </a:r>
            <a:r>
              <a:rPr lang="en-US" altLang="zh-CN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RGB AR </a:t>
            </a:r>
            <a:r>
              <a:rPr lang="zh-CN" altLang="en-US" sz="1425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波导通常需要多周期、多区域或多层设计。</a:t>
            </a:r>
          </a:p>
        </p:txBody>
      </p:sp>
    </p:spTree>
    <p:extLst>
      <p:ext uri="{BB962C8B-B14F-4D97-AF65-F5344CB8AC3E}">
        <p14:creationId xmlns:p14="http://schemas.microsoft.com/office/powerpoint/2010/main" val="337884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C02B465-8EBB-A42B-B063-75D213A0356C}"/>
              </a:ext>
            </a:extLst>
          </p:cNvPr>
          <p:cNvSpPr txBox="1"/>
          <p:nvPr/>
        </p:nvSpPr>
        <p:spPr>
          <a:xfrm>
            <a:off x="321469" y="171450"/>
            <a:ext cx="2357438" cy="21929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 sz="825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WAVEGUIDE • RCWA PHASE</a:t>
            </a:r>
            <a:endParaRPr lang="zh-CN" altLang="en-US" sz="825" b="1">
              <a:solidFill>
                <a:srgbClr val="2B79D1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9D26CDF-DA8C-870B-77DB-B6FC55F6B947}"/>
              </a:ext>
            </a:extLst>
          </p:cNvPr>
          <p:cNvSpPr txBox="1"/>
          <p:nvPr/>
        </p:nvSpPr>
        <p:spPr>
          <a:xfrm>
            <a:off x="321469" y="371475"/>
            <a:ext cx="8072438" cy="4385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225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阶段成果与下一步计划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585985E-DC9D-D7EC-B6F2-FA593E5F31C7}"/>
              </a:ext>
            </a:extLst>
          </p:cNvPr>
          <p:cNvCxnSpPr/>
          <p:nvPr/>
        </p:nvCxnSpPr>
        <p:spPr>
          <a:xfrm>
            <a:off x="321469" y="800100"/>
            <a:ext cx="8501062" cy="0"/>
          </a:xfrm>
          <a:prstGeom prst="line">
            <a:avLst/>
          </a:prstGeom>
          <a:ln w="6429">
            <a:solidFill>
              <a:srgbClr val="CDD7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5DF6ABF4-A220-1B2B-76CF-0CD3ED04BB55}"/>
              </a:ext>
            </a:extLst>
          </p:cNvPr>
          <p:cNvSpPr txBox="1"/>
          <p:nvPr/>
        </p:nvSpPr>
        <p:spPr>
          <a:xfrm>
            <a:off x="7500938" y="4893469"/>
            <a:ext cx="1285875" cy="19620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r"/>
            <a:r>
              <a:rPr lang="en-US" altLang="zh-CN" sz="6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2026.08.13   |   08</a:t>
            </a:r>
            <a:endParaRPr lang="zh-CN" altLang="en-US" sz="675">
              <a:solidFill>
                <a:srgbClr val="607080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6D601A-6D1F-970C-1134-1F02997D3CB3}"/>
              </a:ext>
            </a:extLst>
          </p:cNvPr>
          <p:cNvSpPr txBox="1"/>
          <p:nvPr/>
        </p:nvSpPr>
        <p:spPr>
          <a:xfrm>
            <a:off x="321469" y="964406"/>
            <a:ext cx="6786563" cy="334707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5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已经建立：从物理模型到工程判断的完整学习闭环。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D0C055C-3D3D-1EC3-A97E-FC5D13CF5EA2}"/>
              </a:ext>
            </a:extLst>
          </p:cNvPr>
          <p:cNvSpPr/>
          <p:nvPr/>
        </p:nvSpPr>
        <p:spPr>
          <a:xfrm>
            <a:off x="500063" y="1571625"/>
            <a:ext cx="92868" cy="92869"/>
          </a:xfrm>
          <a:prstGeom prst="roundRect">
            <a:avLst/>
          </a:prstGeom>
          <a:solidFill>
            <a:srgbClr val="0099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50662F-9AE4-C2E1-B0E9-B8BAEB1AD3AB}"/>
              </a:ext>
            </a:extLst>
          </p:cNvPr>
          <p:cNvSpPr txBox="1"/>
          <p:nvPr/>
        </p:nvSpPr>
        <p:spPr>
          <a:xfrm>
            <a:off x="750094" y="1535906"/>
            <a:ext cx="3429000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完成 </a:t>
            </a:r>
            <a:r>
              <a:rPr lang="en-US" altLang="zh-CN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 </a:t>
            </a:r>
            <a:r>
              <a:rPr lang="zh-CN" altLang="en-US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建模与分层界面设置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3225095-FC73-30F2-B7B3-E85712B83E0C}"/>
              </a:ext>
            </a:extLst>
          </p:cNvPr>
          <p:cNvSpPr/>
          <p:nvPr/>
        </p:nvSpPr>
        <p:spPr>
          <a:xfrm>
            <a:off x="500063" y="2000250"/>
            <a:ext cx="92868" cy="92869"/>
          </a:xfrm>
          <a:prstGeom prst="roundRect">
            <a:avLst/>
          </a:prstGeom>
          <a:solidFill>
            <a:srgbClr val="0099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4E50B4C-B9CE-B234-9796-72E5EB806189}"/>
              </a:ext>
            </a:extLst>
          </p:cNvPr>
          <p:cNvSpPr txBox="1"/>
          <p:nvPr/>
        </p:nvSpPr>
        <p:spPr>
          <a:xfrm>
            <a:off x="750094" y="1964531"/>
            <a:ext cx="3429000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完成 </a:t>
            </a:r>
            <a:r>
              <a:rPr lang="en-US" altLang="zh-CN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RCWA–FDTD +1 </a:t>
            </a:r>
            <a:r>
              <a:rPr lang="zh-CN" altLang="en-US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级一致性验证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ADD5F45-9CAA-9F92-15BE-46CA167E1324}"/>
              </a:ext>
            </a:extLst>
          </p:cNvPr>
          <p:cNvSpPr/>
          <p:nvPr/>
        </p:nvSpPr>
        <p:spPr>
          <a:xfrm>
            <a:off x="500063" y="2428875"/>
            <a:ext cx="92868" cy="92869"/>
          </a:xfrm>
          <a:prstGeom prst="roundRect">
            <a:avLst/>
          </a:prstGeom>
          <a:solidFill>
            <a:srgbClr val="0099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C35B719-9307-F4A8-8968-E0F0247126E1}"/>
              </a:ext>
            </a:extLst>
          </p:cNvPr>
          <p:cNvSpPr txBox="1"/>
          <p:nvPr/>
        </p:nvSpPr>
        <p:spPr>
          <a:xfrm>
            <a:off x="750094" y="2393156"/>
            <a:ext cx="3429000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完成占空比、高度、角度与波长扫描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91D839D-FC26-373C-F70F-DD1A162CE5B4}"/>
              </a:ext>
            </a:extLst>
          </p:cNvPr>
          <p:cNvSpPr/>
          <p:nvPr/>
        </p:nvSpPr>
        <p:spPr>
          <a:xfrm>
            <a:off x="500063" y="2857500"/>
            <a:ext cx="92868" cy="92869"/>
          </a:xfrm>
          <a:prstGeom prst="roundRect">
            <a:avLst/>
          </a:prstGeom>
          <a:solidFill>
            <a:srgbClr val="0099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5900110-8D59-FCEB-F2AA-37D9FD218211}"/>
              </a:ext>
            </a:extLst>
          </p:cNvPr>
          <p:cNvSpPr txBox="1"/>
          <p:nvPr/>
        </p:nvSpPr>
        <p:spPr>
          <a:xfrm>
            <a:off x="750094" y="2821781"/>
            <a:ext cx="3429000" cy="30008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完成 </a:t>
            </a:r>
            <a:r>
              <a:rPr lang="en-US" altLang="zh-CN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RGB </a:t>
            </a:r>
            <a:r>
              <a:rPr lang="zh-CN" altLang="en-US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周期反推计算器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46EB604-431A-8203-F8C1-F7BEA8E154D4}"/>
              </a:ext>
            </a:extLst>
          </p:cNvPr>
          <p:cNvSpPr/>
          <p:nvPr/>
        </p:nvSpPr>
        <p:spPr>
          <a:xfrm>
            <a:off x="4822031" y="1464469"/>
            <a:ext cx="3250407" cy="2035969"/>
          </a:xfrm>
          <a:prstGeom prst="roundRect">
            <a:avLst/>
          </a:prstGeom>
          <a:solidFill>
            <a:srgbClr val="F5F8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14EAF5F-0D1A-1DCD-0E6B-EA6174085151}"/>
              </a:ext>
            </a:extLst>
          </p:cNvPr>
          <p:cNvSpPr txBox="1"/>
          <p:nvPr/>
        </p:nvSpPr>
        <p:spPr>
          <a:xfrm>
            <a:off x="5072063" y="1678781"/>
            <a:ext cx="1285875" cy="369332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8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下一步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62DF5F6-064A-3098-E56E-9AE348D2B150}"/>
              </a:ext>
            </a:extLst>
          </p:cNvPr>
          <p:cNvSpPr txBox="1"/>
          <p:nvPr/>
        </p:nvSpPr>
        <p:spPr>
          <a:xfrm>
            <a:off x="5072063" y="2035969"/>
            <a:ext cx="2500313" cy="1131079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1.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为蓝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绿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红分别建立周期模型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\n2.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扫描效率与角度容差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\n3.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引入有限光栅与制造误差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\n4.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用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检查场分布与能量守恒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\n5.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连接系统级 </a:t>
            </a:r>
            <a:r>
              <a:rPr lang="en-US" altLang="zh-CN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AR </a:t>
            </a:r>
            <a:r>
              <a:rPr lang="zh-CN" altLang="en-US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光学设计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9B1073-2050-02F2-357B-572646DFBC5D}"/>
              </a:ext>
            </a:extLst>
          </p:cNvPr>
          <p:cNvSpPr txBox="1"/>
          <p:nvPr/>
        </p:nvSpPr>
        <p:spPr>
          <a:xfrm>
            <a:off x="500063" y="4250531"/>
            <a:ext cx="7000875" cy="288541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当前保存的 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RCWA 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基准：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65% duty / 160 nm height / 532 nm / </a:t>
            </a:r>
            <a:r>
              <a:rPr lang="el-GR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θ=15° / </a:t>
            </a:r>
            <a:r>
              <a:rPr lang="en-US" altLang="zh-CN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TE</a:t>
            </a:r>
            <a:r>
              <a:rPr lang="zh-CN" altLang="en-US" sz="1275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360343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F799CEB-E359-C20B-7021-A1A56FC4D1C6}"/>
              </a:ext>
            </a:extLst>
          </p:cNvPr>
          <p:cNvSpPr txBox="1"/>
          <p:nvPr/>
        </p:nvSpPr>
        <p:spPr>
          <a:xfrm>
            <a:off x="698500" y="444500"/>
            <a:ext cx="1460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有限 </a:t>
            </a:r>
            <a:r>
              <a:rPr lang="en-US" altLang="zh-CN" sz="30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9-ridge </a:t>
            </a:r>
            <a:r>
              <a:rPr lang="zh-CN" altLang="en-US" sz="30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扩瞳器：从场图走向截面功率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B9FC7-8985-ADEC-C2F9-A883D30D8CD9}"/>
              </a:ext>
            </a:extLst>
          </p:cNvPr>
          <p:cNvSpPr txBox="1"/>
          <p:nvPr/>
        </p:nvSpPr>
        <p:spPr>
          <a:xfrm>
            <a:off x="889000" y="1460500"/>
            <a:ext cx="381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完成内容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A3838A8-7893-E841-9417-536E2B0F9A48}"/>
              </a:ext>
            </a:extLst>
          </p:cNvPr>
          <p:cNvSpPr txBox="1"/>
          <p:nvPr/>
        </p:nvSpPr>
        <p:spPr>
          <a:xfrm>
            <a:off x="1079500" y="2095500"/>
            <a:ext cx="13335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复制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9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个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ridge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，建立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45%→70%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占空比渐变
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将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FDTD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区域扩展到覆盖整个阵列
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添加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gradient_field_monitor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查看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|E|²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与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Py
•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添加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power_y_01…power_y_10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的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Y-normal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监视器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657F17-AC19-3E23-6521-3983C49CD209}"/>
              </a:ext>
            </a:extLst>
          </p:cNvPr>
          <p:cNvSpPr txBox="1"/>
          <p:nvPr/>
        </p:nvSpPr>
        <p:spPr>
          <a:xfrm>
            <a:off x="1079500" y="5334000"/>
            <a:ext cx="13081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100" b="1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关键认识：</a:t>
            </a:r>
            <a:r>
              <a:rPr lang="en-US" altLang="zh-CN" sz="2100" b="1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Z-normal </a:t>
            </a:r>
            <a:r>
              <a:rPr lang="zh-CN" altLang="en-US" sz="2100" b="1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场监视器适合看场分布；</a:t>
            </a:r>
            <a:r>
              <a:rPr lang="en-US" altLang="zh-CN" sz="2100" b="1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Y-normal </a:t>
            </a:r>
            <a:r>
              <a:rPr lang="zh-CN" altLang="en-US" sz="2100" b="1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功率监视器才适合比较截面功率。</a:t>
            </a:r>
          </a:p>
        </p:txBody>
      </p:sp>
    </p:spTree>
    <p:extLst>
      <p:ext uri="{BB962C8B-B14F-4D97-AF65-F5344CB8AC3E}">
        <p14:creationId xmlns:p14="http://schemas.microsoft.com/office/powerpoint/2010/main" val="1056023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5EBA9D8-B00B-2DFB-B45E-503F2942BA51}"/>
              </a:ext>
            </a:extLst>
          </p:cNvPr>
          <p:cNvSpPr txBox="1"/>
          <p:nvPr/>
        </p:nvSpPr>
        <p:spPr>
          <a:xfrm>
            <a:off x="698500" y="444500"/>
            <a:ext cx="1460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0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0.8 µm </a:t>
            </a:r>
            <a:r>
              <a:rPr lang="zh-CN" altLang="en-US" sz="30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与 </a:t>
            </a:r>
            <a:r>
              <a:rPr lang="en-US" altLang="zh-CN" sz="30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1.2 µm </a:t>
            </a:r>
            <a:r>
              <a:rPr lang="zh-CN" altLang="en-US" sz="30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间距：当前仍需抑制干涉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7607F3-6509-42F1-93DA-708F30A0F105}"/>
              </a:ext>
            </a:extLst>
          </p:cNvPr>
          <p:cNvSpPr txBox="1"/>
          <p:nvPr/>
        </p:nvSpPr>
        <p:spPr>
          <a:xfrm>
            <a:off x="889000" y="1460500"/>
            <a:ext cx="635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2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0.8 µm </a:t>
            </a:r>
            <a:r>
              <a:rPr lang="zh-CN" altLang="en-US" sz="22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版本的 </a:t>
            </a:r>
            <a:r>
              <a:rPr lang="en-US" altLang="zh-CN" sz="22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</a:t>
            </a:r>
            <a:r>
              <a:rPr lang="zh-CN" altLang="en-US" sz="22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（原始值）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5893F42-CC3F-787F-E48D-96B9B511B1D8}"/>
              </a:ext>
            </a:extLst>
          </p:cNvPr>
          <p:cNvSpPr txBox="1"/>
          <p:nvPr/>
        </p:nvSpPr>
        <p:spPr>
          <a:xfrm>
            <a:off x="1016000" y="2095500"/>
            <a:ext cx="13716000" cy="67710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9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T01=-0.4579  T02=-0.4807  T03=-0.4393  T04=-0.4724  T05=-0.5431
T06=-0.4577  T07=0.5279  T08=0.5252  T09=0.5326  T10=0.5416</a:t>
            </a:r>
            <a:endParaRPr lang="zh-CN" altLang="en-US" sz="1900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A3336A7-863A-99B2-7E6F-5A5BE149F7EA}"/>
              </a:ext>
            </a:extLst>
          </p:cNvPr>
          <p:cNvSpPr txBox="1"/>
          <p:nvPr/>
        </p:nvSpPr>
        <p:spPr>
          <a:xfrm>
            <a:off x="889000" y="3619500"/>
            <a:ext cx="635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2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1.2 µm </a:t>
            </a:r>
            <a:r>
              <a:rPr lang="zh-CN" altLang="en-US" sz="22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版本的 </a:t>
            </a:r>
            <a:r>
              <a:rPr lang="en-US" altLang="zh-CN" sz="22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</a:t>
            </a:r>
            <a:r>
              <a:rPr lang="zh-CN" altLang="en-US" sz="22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（原始值）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56F416-5F50-BBD1-D526-320CF8CEC7C8}"/>
              </a:ext>
            </a:extLst>
          </p:cNvPr>
          <p:cNvSpPr txBox="1"/>
          <p:nvPr/>
        </p:nvSpPr>
        <p:spPr>
          <a:xfrm>
            <a:off x="1016000" y="4254500"/>
            <a:ext cx="13716000" cy="67710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9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T02=-0.9734  T03=-1.0033  T04=-0.9889  T05=-0.9882
T06=0.0207  T07=0.0230  T08=0.0209  T09=0.0228  T10=0.0224</a:t>
            </a:r>
            <a:endParaRPr lang="zh-CN" altLang="en-US" sz="1900">
              <a:solidFill>
                <a:srgbClr val="112238"/>
              </a:solidFill>
              <a:latin typeface="Aptos" panose="020B00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B5EAA3-32BA-130C-34E2-7488A337A459}"/>
              </a:ext>
            </a:extLst>
          </p:cNvPr>
          <p:cNvSpPr txBox="1"/>
          <p:nvPr/>
        </p:nvSpPr>
        <p:spPr>
          <a:xfrm>
            <a:off x="1016000" y="6159500"/>
            <a:ext cx="13716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000" b="1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结论：间距改变了功率分布，但 </a:t>
            </a:r>
            <a:r>
              <a:rPr lang="en-US" altLang="zh-CN" sz="2000" b="1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 </a:t>
            </a:r>
            <a:r>
              <a:rPr lang="zh-CN" altLang="en-US" sz="2000" b="1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仍出现符号翻转与明显不连续；下一步应分离 </a:t>
            </a:r>
            <a:r>
              <a:rPr lang="en-US" altLang="zh-CN" sz="2000" b="1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T_forward/T_backward </a:t>
            </a:r>
            <a:r>
              <a:rPr lang="zh-CN" altLang="en-US" sz="2000" b="1">
                <a:solidFill>
                  <a:srgbClr val="607080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或直接积分净功率。</a:t>
            </a:r>
          </a:p>
        </p:txBody>
      </p:sp>
    </p:spTree>
    <p:extLst>
      <p:ext uri="{BB962C8B-B14F-4D97-AF65-F5344CB8AC3E}">
        <p14:creationId xmlns:p14="http://schemas.microsoft.com/office/powerpoint/2010/main" val="984620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AA4ADA-7252-B5EA-B39C-DB0DB0048EDD}"/>
              </a:ext>
            </a:extLst>
          </p:cNvPr>
          <p:cNvSpPr txBox="1"/>
          <p:nvPr/>
        </p:nvSpPr>
        <p:spPr>
          <a:xfrm>
            <a:off x="698500" y="444500"/>
            <a:ext cx="14605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000" b="1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当前判断与下一步验证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953A64-9EE4-EA1E-1EB3-C218EFDDEE54}"/>
              </a:ext>
            </a:extLst>
          </p:cNvPr>
          <p:cNvSpPr txBox="1"/>
          <p:nvPr/>
        </p:nvSpPr>
        <p:spPr>
          <a:xfrm>
            <a:off x="889000" y="1460500"/>
            <a:ext cx="355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当前判断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920C27-4EFF-A075-10AB-1D23BB7ECF82}"/>
              </a:ext>
            </a:extLst>
          </p:cNvPr>
          <p:cNvSpPr txBox="1"/>
          <p:nvPr/>
        </p:nvSpPr>
        <p:spPr>
          <a:xfrm>
            <a:off x="1079500" y="2095500"/>
            <a:ext cx="13335000" cy="10618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10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个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surface_normal=2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，监视器方向一致
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负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extraction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不能解释为负效率，而是反射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/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干涉导致的净功率回流
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•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当前渐变设计尚未证明均匀出耦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6E96C4-672D-0CB8-A656-C4C32127BA5A}"/>
              </a:ext>
            </a:extLst>
          </p:cNvPr>
          <p:cNvSpPr txBox="1"/>
          <p:nvPr/>
        </p:nvSpPr>
        <p:spPr>
          <a:xfrm>
            <a:off x="889000" y="4572000"/>
            <a:ext cx="355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 b="1">
                <a:solidFill>
                  <a:srgbClr val="2B79D1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下一步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672E0D-8D7F-7A3C-7DC6-D2B75FC04AEA}"/>
              </a:ext>
            </a:extLst>
          </p:cNvPr>
          <p:cNvSpPr txBox="1"/>
          <p:nvPr/>
        </p:nvSpPr>
        <p:spPr>
          <a:xfrm>
            <a:off x="1079500" y="5207000"/>
            <a:ext cx="13335000" cy="138499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1.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读取每个监视器的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T_forward/T_backward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（若结果可用）
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2.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对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Y-normal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的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power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在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x-z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面积分，而不是用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Z-normal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的局部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Py
3.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比较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0.8/1.2 µm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间距的功率包络与均匀性
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4.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再优化 </a:t>
            </a:r>
            <a:r>
              <a:rPr lang="en-US" altLang="zh-CN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ridge </a:t>
            </a:r>
            <a:r>
              <a:rPr lang="zh-CN" altLang="en-US" sz="2100">
                <a:solidFill>
                  <a:srgbClr val="112238"/>
                </a:solidFill>
                <a:latin typeface="Aptos" panose="020B0004020202020204" pitchFamily="34" charset="0"/>
                <a:ea typeface="Microsoft YaHei" panose="020B0503020204020204" pitchFamily="34" charset="-122"/>
              </a:rPr>
              <a:t>间距与占空比渐变</a:t>
            </a:r>
          </a:p>
        </p:txBody>
      </p:sp>
    </p:spTree>
    <p:extLst>
      <p:ext uri="{BB962C8B-B14F-4D97-AF65-F5344CB8AC3E}">
        <p14:creationId xmlns:p14="http://schemas.microsoft.com/office/powerpoint/2010/main" val="2734109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1095</Words>
  <Application>Microsoft Office PowerPoint</Application>
  <PresentationFormat>全屏显示(16:9)</PresentationFormat>
  <Paragraphs>138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Aptos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 WANG</dc:creator>
  <cp:lastModifiedBy>Kai WANG</cp:lastModifiedBy>
  <cp:revision>2</cp:revision>
  <dcterms:created xsi:type="dcterms:W3CDTF">2026-08-12T16:11:09Z</dcterms:created>
  <dcterms:modified xsi:type="dcterms:W3CDTF">2026-08-16T16:05:34Z</dcterms:modified>
</cp:coreProperties>
</file>