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a267249074472" /><Relationship Type="http://schemas.openxmlformats.org/officeDocument/2006/relationships/extended-properties" Target="/docProps/app.xml" Id="Ra00fe1b586a64d3e" /><Relationship Type="http://schemas.openxmlformats.org/officeDocument/2006/relationships/officeDocument" Target="/ppt/presentation.xml" Id="Rba61df33b44e44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affe5173244aee"/>
  </p:sldMasterIdLst>
  <p:notesMasterIdLst>
    <p:notesMasterId xmlns:r="http://schemas.openxmlformats.org/officeDocument/2006/relationships" r:id="Raff281e3b7b34600"/>
  </p:notesMasterIdLst>
  <p:sldIdLst>
    <p:sldId xmlns:r="http://schemas.openxmlformats.org/officeDocument/2006/relationships" id="256" r:id="R13675064c2c64995"/>
    <p:sldId xmlns:r="http://schemas.openxmlformats.org/officeDocument/2006/relationships" id="257" r:id="R6ffcac6332d546ab"/>
    <p:sldId xmlns:r="http://schemas.openxmlformats.org/officeDocument/2006/relationships" id="258" r:id="Re4c62ef0758344c0"/>
    <p:sldId xmlns:r="http://schemas.openxmlformats.org/officeDocument/2006/relationships" id="259" r:id="Ra76f33ec2d85455d"/>
    <p:sldId xmlns:r="http://schemas.openxmlformats.org/officeDocument/2006/relationships" id="260" r:id="R810c7487438d4cae"/>
    <p:sldId xmlns:r="http://schemas.openxmlformats.org/officeDocument/2006/relationships" id="261" r:id="Rae3f3145249c4fad"/>
    <p:sldId xmlns:r="http://schemas.openxmlformats.org/officeDocument/2006/relationships" id="262" r:id="R5e4d27ef8bad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c02cd2e104587" /><Relationship Type="http://schemas.openxmlformats.org/officeDocument/2006/relationships/slideMaster" Target="/ppt/slideMasters/slideMaster1.xml" Id="R18affe5173244aee" /><Relationship Type="http://schemas.openxmlformats.org/officeDocument/2006/relationships/notesMaster" Target="/ppt/notesMasters/notesMaster1.xml" Id="Raff281e3b7b34600" /><Relationship Type="http://schemas.openxmlformats.org/officeDocument/2006/relationships/presProps" Target="/ppt/presProps.xml" Id="R77c23352f451403f" /><Relationship Type="http://schemas.openxmlformats.org/officeDocument/2006/relationships/tableStyles" Target="/ppt/tableStyles.xml" Id="Rcfcb60d9ae4048d1" /><Relationship Type="http://schemas.openxmlformats.org/officeDocument/2006/relationships/slide" Target="/ppt/slides/slide1.xml" Id="R13675064c2c64995" /><Relationship Type="http://schemas.openxmlformats.org/officeDocument/2006/relationships/slide" Target="/ppt/slides/slide2.xml" Id="R6ffcac6332d546ab" /><Relationship Type="http://schemas.openxmlformats.org/officeDocument/2006/relationships/slide" Target="/ppt/slides/slide3.xml" Id="Re4c62ef0758344c0" /><Relationship Type="http://schemas.openxmlformats.org/officeDocument/2006/relationships/slide" Target="/ppt/slides/slide4.xml" Id="Ra76f33ec2d85455d" /><Relationship Type="http://schemas.openxmlformats.org/officeDocument/2006/relationships/slide" Target="/ppt/slides/slide5.xml" Id="R810c7487438d4cae" /><Relationship Type="http://schemas.openxmlformats.org/officeDocument/2006/relationships/slide" Target="/ppt/slides/slide6.xml" Id="Rae3f3145249c4fad" /><Relationship Type="http://schemas.openxmlformats.org/officeDocument/2006/relationships/slide" Target="/ppt/slides/slide7.xml" Id="R5e4d27ef8bad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ea431b37b340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626fb72b94ffa" /><Relationship Type="http://schemas.openxmlformats.org/officeDocument/2006/relationships/notesMaster" Target="/ppt/notesMasters/notesMaster1.xml" Id="R76d191b4dac9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3aafbf66e42c9" /><Relationship Type="http://schemas.openxmlformats.org/officeDocument/2006/relationships/notesMaster" Target="/ppt/notesMasters/notesMaster1.xml" Id="Rb1b09903b1414f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0a4cdb49e44e6" /><Relationship Type="http://schemas.openxmlformats.org/officeDocument/2006/relationships/notesMaster" Target="/ppt/notesMasters/notesMaster1.xml" Id="Red6045dbb2e14e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aa51e128544b2" /><Relationship Type="http://schemas.openxmlformats.org/officeDocument/2006/relationships/notesMaster" Target="/ppt/notesMasters/notesMaster1.xml" Id="R20ff6b0ab432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cc38c60eb44dd" /><Relationship Type="http://schemas.openxmlformats.org/officeDocument/2006/relationships/notesMaster" Target="/ppt/notesMasters/notesMaster1.xml" Id="Reb151fd2f93442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930d738749433a" /><Relationship Type="http://schemas.openxmlformats.org/officeDocument/2006/relationships/notesMaster" Target="/ppt/notesMasters/notesMaster1.xml" Id="Rfca0715e43924c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c4ed1336a421a" /><Relationship Type="http://schemas.openxmlformats.org/officeDocument/2006/relationships/notesMaster" Target="/ppt/notesMasters/notesMaster1.xml" Id="Re2f927377615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da1b9563e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0b460c1ed43d1" /><Relationship Type="http://schemas.openxmlformats.org/officeDocument/2006/relationships/slideLayout" Target="/ppt/slideLayouts/slideLayout1.xml" Id="R3cdaa1d1dde5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daa1d1dde5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e7fb96de46fd" /><Relationship Type="http://schemas.openxmlformats.org/officeDocument/2006/relationships/notesSlide" Target="/ppt/notesSlides/notesSlide1.xml" Id="R5f3f5afe6fb545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137572004997" /><Relationship Type="http://schemas.openxmlformats.org/officeDocument/2006/relationships/notesSlide" Target="/ppt/notesSlides/notesSlide2.xml" Id="Rc648c1b2df86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4972cd9fa4d02" /><Relationship Type="http://schemas.openxmlformats.org/officeDocument/2006/relationships/notesSlide" Target="/ppt/notesSlides/notesSlide3.xml" Id="R39461604759b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4d553dfdd4ec9" /><Relationship Type="http://schemas.openxmlformats.org/officeDocument/2006/relationships/notesSlide" Target="/ppt/notesSlides/notesSlide4.xml" Id="Rb4af16e5ff73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2f56c83954fcf" /><Relationship Type="http://schemas.openxmlformats.org/officeDocument/2006/relationships/notesSlide" Target="/ppt/notesSlides/notesSlide5.xml" Id="Rdec175803d3f4e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8499e2945472c" /><Relationship Type="http://schemas.openxmlformats.org/officeDocument/2006/relationships/notesSlide" Target="/ppt/notesSlides/notesSlide6.xml" Id="Rbf15b365443642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ee38769fc499a" /><Relationship Type="http://schemas.openxmlformats.org/officeDocument/2006/relationships/notesSlide" Target="/ppt/notesSlides/notesSlide7.xml" Id="R82661e750dc543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09057-E85A-462C-B822-2054D64D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AR WAVEGUIDE • FDTD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A1C45-9DA6-4007-9B12-3FA07D9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 波导光栅 FDTD</a:t>
            </a:r>
          </a:p>
          <a:p xmlns:a="http://schemas.openxmlformats.org/drawingml/2006/main">
            <a:pPr algn="l">
              <a:def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首次建模与验证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56648-63B4-4CCD-B7A5-7BE3A2D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532 nm 一维表面浮雕光栅 · Lumerical FDTD 2026 R1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2B378-A378-4953-B808-B4ADDCF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BE3"/>
          </a:solidFill>
          <a:ln xmlns:a="http://schemas.openxmlformats.org/drawingml/2006/main" w="0">
            <a:solidFill>
              <a:srgbClr val="1E6B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61D1D-2AF8-4978-8614-C9CC2FA7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项目日期 2026-08-07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AF176-E496-42CF-A7E0-2952296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AE1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788B1-4BC4-4C93-BA7B-E8977A4F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空气  n =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131C-E1B1-4C93-8BE3-A76E7B2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9375"/>
            <a:ext cx="1428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5BCEB"/>
          </a:solidFill>
          <a:ln xmlns:a="http://schemas.openxmlformats.org/drawingml/2006/main" w="9525">
            <a:solidFill>
              <a:srgbClr val="25BC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69DD0-3639-44DD-AEE8-4C959ADB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76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光栅凸起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6D9D6-CA72-4785-8BFE-2C7FA62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19425"/>
            <a:ext cx="3429000" cy="10001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5DD5D1"/>
          </a:solidFill>
          <a:ln xmlns:a="http://schemas.openxmlformats.org/drawingml/2006/main" w="9525">
            <a:solidFill>
              <a:srgbClr val="5D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71D89-F6CA-4959-9E6F-0F99A35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玻璃波导  n = 1.8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CA36-B4B5-4BB2-AF25-811E2A8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1455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F7D49-6B20-4167-8783-E1C77B6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14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532 nm 入射光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007BB-AC8C-4B2C-B1A2-2BB8CADD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学习记录 / 可复现仿真项目</a:t>
            </a:r>
          </a:p>
        </p:txBody>
      </p:sp>
    </p:spTree>
    <p:extLst>
      <p:ext uri="{BB962C8B-B14F-4D97-AF65-F5344CB8AC3E}">
        <p14:creationId xmlns:p14="http://schemas.microsoft.com/office/powerpoint/2010/main" val="2497188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2A770-6C7E-4111-B24F-CE3AD0A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01 目标与范围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51CD0-9AB9-4D6A-8FFA-9142309E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 AR 波导原理到可验证的局部光栅模型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D2FA2-7316-4B26-BEAB-F627FDB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1FD3F-E60D-48F0-B38F-A0351CD3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78809-8EF8-466E-B4AA-83A1D6B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本次项目回答的核心问题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4942-60E8-479C-B7EC-BA34891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19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37BFE-1D48-4420-ADC1-42E03999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57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1E14A-767A-4D59-98E3-ED66C147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08532-56F0-42A1-8B34-204FFED5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为什么光栅能把光耦入波导？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EF950-5EB8-4768-9C6C-5D759FDF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动量匹配与全反射条件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5CD28-A269-4C21-940E-650A904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19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D7558-BACE-4B7B-869C-67C83E5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457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84389-0993-4805-8A07-A3FB2A5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19C17-B22D-4DFC-880A-787FA24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如何在 FDTD 中建立可信模型？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2E47D-36C4-4A8C-8EAA-1E0898B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719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边界、网格、光源与监视器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C89EC-284B-459A-9997-F81B425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191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3235E-5850-4334-A4AB-5E2CC829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457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155C6-8DE6-4C37-BC51-047E085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FE6A0-F75C-41E6-9B4B-E1D21926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怎样判断仿真结果是否可信？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214C8-97DE-4A77-AD18-672C2A8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387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反射、透射与能量守恒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4EC00-269C-4A45-B7FD-80779744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范围：局部周期光栅单元；不是完整 AR 眼镜系统。</a:t>
            </a:r>
          </a:p>
        </p:txBody>
      </p:sp>
    </p:spTree>
    <p:extLst>
      <p:ext uri="{BB962C8B-B14F-4D97-AF65-F5344CB8AC3E}">
        <p14:creationId xmlns:p14="http://schemas.microsoft.com/office/powerpoint/2010/main" val="344170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32F8C-2474-4882-9A5F-8AD33A7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02 物理起点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855-8CF0-40D0-AD7D-6384AD7D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 波导依赖“光栅动量匹配 + 全反射传播”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0309-4B1E-4B1D-A7BD-B5AA988B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D4898-4C42-44D5-B6D3-4E21219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3D17-DF7B-4A9A-A071-4E2E9B4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光路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53A1F-25CA-4430-90A4-DC382C3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B061D-58A5-40C0-8780-3EAF34FE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微显示 / 准直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2E32-C380-4E2D-8FB3-87BAF5B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1719C-A3DB-4492-BF5B-EB8C30FB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1862F-AFDA-45D0-8842-3A7FD61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入耦光栅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9EC8E-A5C1-4F7F-B299-30C07F45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00F84-409B-4BB0-9B3C-948A676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28875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67335-03F0-430C-9E57-AEA6AFD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波导内全反射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89D4D-FDAD-4390-8916-CE4C8840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130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F4280-B95C-447B-BDF7-8B2C853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AA60F-805F-4950-958B-C6F3547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出耦至人眼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308F6-2008-4791-8931-287B2E4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关键公式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FAB6D-7E5F-4AB8-A97B-6DE4B84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857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AE1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F5FDE-CC0A-463B-9E22-43EA37E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nₐᵢᵣ sinθᵢₙ + mλ/Λ = nwg sinθwg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85EF8-6AA1-4B1E-817D-1B07AE3F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5048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FFC"/>
          </a:solidFill>
          <a:ln xmlns:a="http://schemas.openxmlformats.org/drawingml/2006/main" w="9525">
            <a:solidFill>
              <a:srgbClr val="C5EF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C29F8-A849-4E56-9B23-830EF4A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rPr>
              <a:t>本例：λ = 532 nm，nwg = 1.8，Λ ≈ 386 nm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D1468-E08E-46B5-AF7A-AE8DCFEC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设计含义：相同光栅对不同视场角、偏振和 RGB 波长的响应不同，这正是 AR 波导设计难点。</a:t>
            </a:r>
          </a:p>
        </p:txBody>
      </p:sp>
    </p:spTree>
    <p:extLst>
      <p:ext uri="{BB962C8B-B14F-4D97-AF65-F5344CB8AC3E}">
        <p14:creationId xmlns:p14="http://schemas.microsoft.com/office/powerpoint/2010/main" val="14193378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D9602-17D7-4EF3-AD58-19461B79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03 模型搭建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C66D1-CD66-421B-9BE7-65EEB22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二维周期单元把“纳米光栅”从整机问题中拆出来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1F4F2-A0C9-4CA7-9319-81A14C1C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BFC4-7620-470A-8111-48D4F87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1E8AF-5883-4EEE-B89E-A7BD75E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4292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5DE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33CF8-B288-442A-81B9-972E5B6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FDTD 二维 x–y 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B0C5C-956A-4933-94A9-73724E3B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47675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59D6D1"/>
          </a:solidFill>
          <a:ln xmlns:a="http://schemas.openxmlformats.org/drawingml/2006/main" w="9525">
            <a:solidFill>
              <a:srgbClr val="2ABF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B3AFA-BDF7-4A11-8AED-26A1478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waveguide  n = 1.8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E6CFC-B4BE-45B7-91EF-B9E003A1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24125"/>
            <a:ext cx="1333500" cy="333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5BCEB"/>
          </a:solidFill>
          <a:ln xmlns:a="http://schemas.openxmlformats.org/drawingml/2006/main" w="9525">
            <a:solidFill>
              <a:srgbClr val="25BC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F5C9C-4225-4702-B1B5-ED2A50A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90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grating 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EBF97-CA7C-480E-8DDB-3A4DCF2F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77DE6-09D3-4383-AE41-526AFD4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383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source  532 nm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F583A-21C7-4C91-90F7-063A5CF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A34D6-4156-4E60-9FBB-5ED9748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x：Periodic  ｜  y：PML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C8825-4807-4D3F-8CD4-A29E0DC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仿真区域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8BDB9-4AF7-42C7-A3D8-7E93B28C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x span 0.386 μm；y = −0.7…0.8 μm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726E2-C9A3-40CC-B93D-5A759856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4317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1E450-EACC-4FFA-9D1F-3EC56EDA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BB5F3-F797-4D10-9CA2-A3F79ED6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90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周期 386 nm；凸起宽 193 nm；高 120 nm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B2923-80B8-4DCD-B0C9-313FAE51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5941C-2063-44A1-86CD-059308D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光源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0695F-2532-4C40-BD6A-8517928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y 轴 Backward；500–600 nm（后切换到 532 nm）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6E1FE-CADD-478A-BE35-A905BC3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B5CB2-88DF-44CB-A4D7-33F72F8A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监视器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59AA4-B153-428C-BE0A-F1DD5E9B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719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R：y=0.65 μm；T：y=−0.3 μm；field / index 区域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A8553-6570-46CE-AC96-86680DC4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217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78BE0-52FF-426C-A49A-E2A902E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04 调试过程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65AD0-6D2F-419D-86DB-09ABAB61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先定位 monitor，再用能量守恒验证仿真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E5C7-1C55-4E00-87C4-24D8D1C9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70CB9-CE3A-4BD7-A696-9D201D4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78A40-4145-42EC-BD5A-0D0A41F6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EC208-4602-4D44-A397-5E326B3B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768D2-4BE4-4CCD-A723-2A4848A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B033D-1B9D-47A8-9B07-30427DD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先跑通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5964B-3911-4D3A-A850-C767A7D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90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建立 FDTD、波导、光栅、光源与两个功率监视器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4503C-AB30-4DCC-9D97-9DEF80A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FC594-3B43-4BF5-8D5A-C9B8134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6CE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3E07-AC7B-4175-A07B-B54EDE66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368F1-D5A6-4660-B001-CD82831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9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8068F-6EB7-4542-8137-1D9CA6EE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12129-DD86-4DAE-839F-0097D15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90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初始 R_monitor 位于光源下方，测到的是入射光而不是反射光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83E2D-5EA8-4C71-B6D8-D727B871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7662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93A12-017F-4C95-978A-C3F777B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2803A-C39F-4DEA-8154-F72B9B1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91E6D-BA08-4C09-988E-056CA1D2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9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ED083-01E5-4509-B5E0-D358EA38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修正位置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26F7D-A5D2-47AE-9B6F-E451F03B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190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把 R_monitor 移到 y = 0.65 μm，位于光源上方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E553C-1DC5-4710-8016-22B67BA4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E6B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86EFF-DAFF-4C63-AA11-ADE684E8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4F95E-9F9E-4CE7-A47C-83A55F0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0B97A-9C73-4A5F-8FC9-645FC182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83070-68C0-4A15-957C-88AC234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重新验证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D635B-8E45-4DA6-A641-59E51FD6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90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R 曲线转为正值；T 保持负值，符合向 −y 传播的符号约定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90341-6538-48DA-9DC5-DA703AA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这一步避免了一个常见误判：功率曲线接近 −1 不一定代表“高反射”，也可能只是 monitor 截获了入射光。</a:t>
            </a:r>
          </a:p>
        </p:txBody>
      </p:sp>
    </p:spTree>
    <p:extLst>
      <p:ext uri="{BB962C8B-B14F-4D97-AF65-F5344CB8AC3E}">
        <p14:creationId xmlns:p14="http://schemas.microsoft.com/office/powerpoint/2010/main" val="10038501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702C5-DB32-4225-9D5B-44AFF728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05 结果与验证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AFA5E-AFE8-46B8-9483-AB61B31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532 nm 附近的能量守恒成立，模型已具备可信基础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AA86B-6B1D-463D-91DE-5EAE589A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A5923-720A-4D1C-9715-98B31698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8E64B-7A55-4086-9B49-4FED03FE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2A723-7D6D-4378-B3DA-0F6447E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反射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DD617-3068-4910-91B5-5D25E70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约 0–0.45%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C4C5D-0D32-4443-9770-DF10EB67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EBDA5-E690-49CA-9975-2EB18B7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R_monitor 位于光源上方后得到正向反射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9B95C-9463-490A-AFE4-FF814BB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3DB1D-CB6A-4F95-80DD-5B90D76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物理透射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FCB1E-BA7B-449D-B90D-89857B81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A6A0"/>
                </a:solidFill>
                <a:latin typeface="Microsoft YaHei"/>
                <a:ea typeface="Microsoft YaHei"/>
                <a:cs typeface="Microsoft YaHei"/>
              </a:rPr>
              <a:t>约 99.2–99.75%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4E055-70FC-49BE-AE84-9BF2B7F7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538E3-B5BD-4FE5-8BA2-F8E8CF4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Tphysical = −T_monitor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B1508-ED05-438E-9066-D8946A9A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238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05BD0-EE5D-4427-BE76-9307147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守恒误差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EEB75-EF60-4BE7-8C01-EB69A24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约 0.2–0.4%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9B2B7-037D-4568-9596-430A9025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2354A-9441-4E06-93B2-4F5B94D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62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来源：网格、PML 与有限仿真时间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74547-32CE-4910-9EA2-48F2D902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AE1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E8D74-34C1-4910-8215-918F364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能量检查：R + (−Tmonitor) ≈ 1。这个检查比“电场图看起来很漂亮”更重要。</a:t>
            </a:r>
          </a:p>
        </p:txBody>
      </p:sp>
    </p:spTree>
    <p:extLst>
      <p:ext uri="{BB962C8B-B14F-4D97-AF65-F5344CB8AC3E}">
        <p14:creationId xmlns:p14="http://schemas.microsoft.com/office/powerpoint/2010/main" val="2497779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3FFD4-BCEF-45B3-8154-7324B5F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06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4332E-2EAB-4E27-B44A-8DDAC43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从“能量进入玻璃”走向“定向耦入 AR 波导”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825CA-24B0-4BCC-AE53-7183E65D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E103-3906-455A-B5AD-45E19C7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0D4C7-49A0-4882-94CD-C4A97FA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8D567-C1C9-4DED-93A5-F7C65FE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73FEA-1BBC-43E9-ABFF-206EADC1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28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看功率流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22609-12B8-4B4E-B31F-891000CE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288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用 field_monitor 的 Poynting vector 判断能量是否横向传播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486B5-5CDC-4855-ABEE-BC82BE0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AF26B-0CF9-4994-AF0F-C646A4F8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6BE3"/>
          </a:solidFill>
          <a:ln xmlns:a="http://schemas.openxmlformats.org/drawingml/2006/main" w="9525">
            <a:solidFill>
              <a:srgbClr val="1E6B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7A259-35ED-4F15-B270-460EDCE7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33A8F-7EB8-4DC2-AE53-B8E4486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区分光栅与场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B2EC6-B817-4B96-8E0B-2D1FABE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1465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用 index_monitor 叠加结构位置与电场热点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DC9A8-1761-4068-A4F6-69C84D9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33251-F172-419B-8309-AB2B7B4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8A6A0"/>
          </a:solidFill>
          <a:ln xmlns:a="http://schemas.openxmlformats.org/drawingml/2006/main" w="9525">
            <a:solidFill>
              <a:srgbClr val="18A6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9C4A7-C07E-4F0B-A979-D42C2185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A7777-068E-4B7B-AEC2-A1366D6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打破对称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62131-E929-46F5-83FC-CDE926C5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引入斜入射或非对称 / 闪耀结构，偏向单一 +1 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F9D4C-6AD5-43E7-B17C-FC51486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14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815FE-C96D-4112-B243-6FFEA64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400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8A6A0"/>
          </a:solidFill>
          <a:ln xmlns:a="http://schemas.openxmlformats.org/drawingml/2006/main" w="9525">
            <a:solidFill>
              <a:srgbClr val="18A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20D99-04BB-43EB-81A4-61C1F171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E3702-D569-43A2-8F8C-FEDB4DD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进入工程化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58B64-9A2D-49B3-9073-221F3A60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8630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070"/>
                </a:solidFill>
                <a:latin typeface="Microsoft YaHei"/>
                <a:ea typeface="Microsoft YaHei"/>
                <a:cs typeface="Microsoft YaHei"/>
              </a:rPr>
              <a:t>扫描周期、占空比、深度、TE/TM 与 RGB；加入工艺容差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12D2B-23EB-4FD1-A7CF-9D6D4D82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838DB-860F-43F2-9945-961E88D1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6BE3"/>
                </a:solidFill>
                <a:latin typeface="Microsoft YaHei"/>
                <a:ea typeface="Microsoft YaHei"/>
                <a:cs typeface="Microsoft YaHei"/>
              </a:rPr>
              <a:t>结论：今天完成的是一个可复现、可验证的起点；下一阶段的目标是“高效率且定向的波导耦合”。</a:t>
            </a:r>
          </a:p>
        </p:txBody>
      </p:sp>
    </p:spTree>
    <p:extLst>
      <p:ext uri="{BB962C8B-B14F-4D97-AF65-F5344CB8AC3E}">
        <p14:creationId xmlns:p14="http://schemas.microsoft.com/office/powerpoint/2010/main" val="1169614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2026-08-07T16:09:34.0440000Z</dcterms:created>
  <dcterms:modified xsi:type="dcterms:W3CDTF">2026-08-07T16:09:34.0440000Z</dcterms:modified>
</coreProperties>
</file>